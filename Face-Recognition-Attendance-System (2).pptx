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89" r:id="rId1"/>
  </p:sldMasterIdLst>
  <p:notesMasterIdLst>
    <p:notesMasterId r:id="rId8"/>
  </p:notesMasterIdLst>
  <p:sldIdLst>
    <p:sldId id="261" r:id="rId2"/>
    <p:sldId id="256" r:id="rId3"/>
    <p:sldId id="257" r:id="rId4"/>
    <p:sldId id="258" r:id="rId5"/>
    <p:sldId id="259" r:id="rId6"/>
    <p:sldId id="260" r:id="rId7"/>
  </p:sldIdLst>
  <p:sldSz cx="14630400" cy="8229600"/>
  <p:notesSz cx="8229600" cy="14630400"/>
  <p:embeddedFontLst>
    <p:embeddedFont>
      <p:font typeface="MuseoModerno Medium" pitchFamily="2" charset="77"/>
      <p:regular r:id="rId9"/>
    </p:embeddedFont>
    <p:embeddedFont>
      <p:font typeface="Source Sans 3" panose="020B0303030403090204" pitchFamily="34" charset="0"/>
      <p:regular r:id="rId10"/>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font" Target="fonts/font1.fntdata"/><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073590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828800" y="1346836"/>
            <a:ext cx="10972800" cy="2865120"/>
          </a:xfrm>
        </p:spPr>
        <p:txBody>
          <a:bodyPr anchor="b"/>
          <a:lstStyle>
            <a:lvl1pPr algn="ctr">
              <a:defRPr sz="7200"/>
            </a:lvl1pPr>
          </a:lstStyle>
          <a:p>
            <a:r>
              <a:rPr lang="en-US"/>
              <a:t>Click to edit Master title style</a:t>
            </a:r>
          </a:p>
        </p:txBody>
      </p:sp>
      <p:sp>
        <p:nvSpPr>
          <p:cNvPr id="3" name="Subtitle 2"/>
          <p:cNvSpPr>
            <a:spLocks noGrp="1"/>
          </p:cNvSpPr>
          <p:nvPr>
            <p:ph type="subTitle" idx="1"/>
          </p:nvPr>
        </p:nvSpPr>
        <p:spPr>
          <a:xfrm>
            <a:off x="1828800" y="4322446"/>
            <a:ext cx="10972800" cy="1986914"/>
          </a:xfrm>
        </p:spPr>
        <p:txBody>
          <a:bodyPr/>
          <a:lstStyle>
            <a:lvl1pPr marL="0" indent="0" algn="ctr">
              <a:buNone/>
              <a:defRPr sz="2880"/>
            </a:lvl1pPr>
            <a:lvl2pPr marL="548640" indent="0" algn="ctr">
              <a:buNone/>
              <a:defRPr sz="2400"/>
            </a:lvl2pPr>
            <a:lvl3pPr marL="1097280" indent="0" algn="ctr">
              <a:buNone/>
              <a:defRPr sz="2160"/>
            </a:lvl3pPr>
            <a:lvl4pPr marL="1645920" indent="0" algn="ctr">
              <a:buNone/>
              <a:defRPr sz="1920"/>
            </a:lvl4pPr>
            <a:lvl5pPr marL="2194560" indent="0" algn="ctr">
              <a:buNone/>
              <a:defRPr sz="1920"/>
            </a:lvl5pPr>
            <a:lvl6pPr marL="2743200" indent="0" algn="ctr">
              <a:buNone/>
              <a:defRPr sz="1920"/>
            </a:lvl6pPr>
            <a:lvl7pPr marL="3291840" indent="0" algn="ctr">
              <a:buNone/>
              <a:defRPr sz="1920"/>
            </a:lvl7pPr>
            <a:lvl8pPr marL="3840480" indent="0" algn="ctr">
              <a:buNone/>
              <a:defRPr sz="1920"/>
            </a:lvl8pPr>
            <a:lvl9pPr marL="4389120" indent="0" algn="ctr">
              <a:buNone/>
              <a:defRPr sz="1920"/>
            </a:lvl9pPr>
          </a:lstStyle>
          <a:p>
            <a:r>
              <a:rPr lang="en-US"/>
              <a:t>Click to edit Master subtitle style</a:t>
            </a:r>
          </a:p>
        </p:txBody>
      </p:sp>
      <p:sp>
        <p:nvSpPr>
          <p:cNvPr id="4" name="Date Placeholder 3"/>
          <p:cNvSpPr>
            <a:spLocks noGrp="1"/>
          </p:cNvSpPr>
          <p:nvPr>
            <p:ph type="dt" sz="half" idx="10"/>
          </p:nvPr>
        </p:nvSpPr>
        <p:spPr/>
        <p:txBody>
          <a:bodyPr/>
          <a:lstStyle/>
          <a:p>
            <a:fld id="{CC741A71-FD11-4FDA-8BCD-B5FE0D90BAD5}" type="datetimeFigureOut">
              <a:rPr lang="en-IN" smtClean="0"/>
              <a:t>19/04/26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C793429-DB21-451E-A46A-1A495DBC5FE7}" type="slidenum">
              <a:rPr lang="en-IN" smtClean="0"/>
              <a:t>‹#›</a:t>
            </a:fld>
            <a:endParaRPr lang="en-IN"/>
          </a:p>
        </p:txBody>
      </p:sp>
    </p:spTree>
    <p:extLst>
      <p:ext uri="{BB962C8B-B14F-4D97-AF65-F5344CB8AC3E}">
        <p14:creationId xmlns:p14="http://schemas.microsoft.com/office/powerpoint/2010/main" val="1321879494"/>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C741A71-FD11-4FDA-8BCD-B5FE0D90BAD5}" type="datetimeFigureOut">
              <a:rPr lang="en-IN" smtClean="0"/>
              <a:t>19/04/26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C793429-DB21-451E-A46A-1A495DBC5FE7}" type="slidenum">
              <a:rPr lang="en-IN" smtClean="0"/>
              <a:t>‹#›</a:t>
            </a:fld>
            <a:endParaRPr lang="en-IN"/>
          </a:p>
        </p:txBody>
      </p:sp>
    </p:spTree>
    <p:extLst>
      <p:ext uri="{BB962C8B-B14F-4D97-AF65-F5344CB8AC3E}">
        <p14:creationId xmlns:p14="http://schemas.microsoft.com/office/powerpoint/2010/main" val="2760470486"/>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98220" y="2051686"/>
            <a:ext cx="12618720" cy="3423284"/>
          </a:xfrm>
        </p:spPr>
        <p:txBody>
          <a:bodyPr anchor="b"/>
          <a:lstStyle>
            <a:lvl1pPr>
              <a:defRPr sz="7200"/>
            </a:lvl1pPr>
          </a:lstStyle>
          <a:p>
            <a:r>
              <a:rPr lang="en-US"/>
              <a:t>Click to edit Master title style</a:t>
            </a:r>
          </a:p>
        </p:txBody>
      </p:sp>
      <p:sp>
        <p:nvSpPr>
          <p:cNvPr id="3" name="Text Placeholder 2"/>
          <p:cNvSpPr>
            <a:spLocks noGrp="1"/>
          </p:cNvSpPr>
          <p:nvPr>
            <p:ph type="body" idx="1"/>
          </p:nvPr>
        </p:nvSpPr>
        <p:spPr>
          <a:xfrm>
            <a:off x="998220" y="5507356"/>
            <a:ext cx="12618720" cy="1800224"/>
          </a:xfrm>
        </p:spPr>
        <p:txBody>
          <a:bodyPr/>
          <a:lstStyle>
            <a:lvl1pPr marL="0" indent="0">
              <a:buNone/>
              <a:defRPr sz="2880">
                <a:solidFill>
                  <a:schemeClr val="tx1">
                    <a:tint val="82000"/>
                  </a:schemeClr>
                </a:solidFill>
              </a:defRPr>
            </a:lvl1pPr>
            <a:lvl2pPr marL="548640" indent="0">
              <a:buNone/>
              <a:defRPr sz="2400">
                <a:solidFill>
                  <a:schemeClr val="tx1">
                    <a:tint val="82000"/>
                  </a:schemeClr>
                </a:solidFill>
              </a:defRPr>
            </a:lvl2pPr>
            <a:lvl3pPr marL="1097280" indent="0">
              <a:buNone/>
              <a:defRPr sz="2160">
                <a:solidFill>
                  <a:schemeClr val="tx1">
                    <a:tint val="82000"/>
                  </a:schemeClr>
                </a:solidFill>
              </a:defRPr>
            </a:lvl3pPr>
            <a:lvl4pPr marL="1645920" indent="0">
              <a:buNone/>
              <a:defRPr sz="1920">
                <a:solidFill>
                  <a:schemeClr val="tx1">
                    <a:tint val="82000"/>
                  </a:schemeClr>
                </a:solidFill>
              </a:defRPr>
            </a:lvl4pPr>
            <a:lvl5pPr marL="2194560" indent="0">
              <a:buNone/>
              <a:defRPr sz="1920">
                <a:solidFill>
                  <a:schemeClr val="tx1">
                    <a:tint val="82000"/>
                  </a:schemeClr>
                </a:solidFill>
              </a:defRPr>
            </a:lvl5pPr>
            <a:lvl6pPr marL="2743200" indent="0">
              <a:buNone/>
              <a:defRPr sz="1920">
                <a:solidFill>
                  <a:schemeClr val="tx1">
                    <a:tint val="82000"/>
                  </a:schemeClr>
                </a:solidFill>
              </a:defRPr>
            </a:lvl6pPr>
            <a:lvl7pPr marL="3291840" indent="0">
              <a:buNone/>
              <a:defRPr sz="1920">
                <a:solidFill>
                  <a:schemeClr val="tx1">
                    <a:tint val="82000"/>
                  </a:schemeClr>
                </a:solidFill>
              </a:defRPr>
            </a:lvl7pPr>
            <a:lvl8pPr marL="3840480" indent="0">
              <a:buNone/>
              <a:defRPr sz="1920">
                <a:solidFill>
                  <a:schemeClr val="tx1">
                    <a:tint val="82000"/>
                  </a:schemeClr>
                </a:solidFill>
              </a:defRPr>
            </a:lvl8pPr>
            <a:lvl9pPr marL="4389120" indent="0">
              <a:buNone/>
              <a:defRPr sz="192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C741A71-FD11-4FDA-8BCD-B5FE0D90BAD5}" type="datetimeFigureOut">
              <a:rPr lang="en-IN" smtClean="0"/>
              <a:t>19/04/26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C793429-DB21-451E-A46A-1A495DBC5FE7}" type="slidenum">
              <a:rPr lang="en-IN" smtClean="0"/>
              <a:t>‹#›</a:t>
            </a:fld>
            <a:endParaRPr lang="en-IN"/>
          </a:p>
        </p:txBody>
      </p:sp>
    </p:spTree>
    <p:extLst>
      <p:ext uri="{BB962C8B-B14F-4D97-AF65-F5344CB8AC3E}">
        <p14:creationId xmlns:p14="http://schemas.microsoft.com/office/powerpoint/2010/main" val="3070068856"/>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005840" y="2190750"/>
            <a:ext cx="6217920" cy="52216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7406640" y="2190750"/>
            <a:ext cx="6217920" cy="52216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C741A71-FD11-4FDA-8BCD-B5FE0D90BAD5}" type="datetimeFigureOut">
              <a:rPr lang="en-IN" smtClean="0"/>
              <a:t>19/04/26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C793429-DB21-451E-A46A-1A495DBC5FE7}" type="slidenum">
              <a:rPr lang="en-IN" smtClean="0"/>
              <a:t>‹#›</a:t>
            </a:fld>
            <a:endParaRPr lang="en-IN"/>
          </a:p>
        </p:txBody>
      </p:sp>
    </p:spTree>
    <p:extLst>
      <p:ext uri="{BB962C8B-B14F-4D97-AF65-F5344CB8AC3E}">
        <p14:creationId xmlns:p14="http://schemas.microsoft.com/office/powerpoint/2010/main" val="3278966543"/>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007746" y="438150"/>
            <a:ext cx="12618720" cy="1590676"/>
          </a:xfrm>
        </p:spPr>
        <p:txBody>
          <a:bodyPr/>
          <a:lstStyle/>
          <a:p>
            <a:r>
              <a:rPr lang="en-US"/>
              <a:t>Click to edit Master title style</a:t>
            </a:r>
          </a:p>
        </p:txBody>
      </p:sp>
      <p:sp>
        <p:nvSpPr>
          <p:cNvPr id="3" name="Text Placeholder 2"/>
          <p:cNvSpPr>
            <a:spLocks noGrp="1"/>
          </p:cNvSpPr>
          <p:nvPr>
            <p:ph type="body" idx="1"/>
          </p:nvPr>
        </p:nvSpPr>
        <p:spPr>
          <a:xfrm>
            <a:off x="1007746" y="2017396"/>
            <a:ext cx="6189344" cy="988694"/>
          </a:xfrm>
        </p:spPr>
        <p:txBody>
          <a:bodyPr anchor="b"/>
          <a:lstStyle>
            <a:lvl1pPr marL="0" indent="0">
              <a:buNone/>
              <a:defRPr sz="2880" b="1"/>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4" name="Content Placeholder 3"/>
          <p:cNvSpPr>
            <a:spLocks noGrp="1"/>
          </p:cNvSpPr>
          <p:nvPr>
            <p:ph sz="half" idx="2"/>
          </p:nvPr>
        </p:nvSpPr>
        <p:spPr>
          <a:xfrm>
            <a:off x="1007746" y="3006090"/>
            <a:ext cx="6189344" cy="44215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7406640" y="2017396"/>
            <a:ext cx="6219826" cy="988694"/>
          </a:xfrm>
        </p:spPr>
        <p:txBody>
          <a:bodyPr anchor="b"/>
          <a:lstStyle>
            <a:lvl1pPr marL="0" indent="0">
              <a:buNone/>
              <a:defRPr sz="2880" b="1"/>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6" name="Content Placeholder 5"/>
          <p:cNvSpPr>
            <a:spLocks noGrp="1"/>
          </p:cNvSpPr>
          <p:nvPr>
            <p:ph sz="quarter" idx="4"/>
          </p:nvPr>
        </p:nvSpPr>
        <p:spPr>
          <a:xfrm>
            <a:off x="7406640" y="3006090"/>
            <a:ext cx="6219826" cy="44215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C741A71-FD11-4FDA-8BCD-B5FE0D90BAD5}" type="datetimeFigureOut">
              <a:rPr lang="en-IN" smtClean="0"/>
              <a:t>19/04/26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C793429-DB21-451E-A46A-1A495DBC5FE7}" type="slidenum">
              <a:rPr lang="en-IN" smtClean="0"/>
              <a:t>‹#›</a:t>
            </a:fld>
            <a:endParaRPr lang="en-IN"/>
          </a:p>
        </p:txBody>
      </p:sp>
    </p:spTree>
    <p:extLst>
      <p:ext uri="{BB962C8B-B14F-4D97-AF65-F5344CB8AC3E}">
        <p14:creationId xmlns:p14="http://schemas.microsoft.com/office/powerpoint/2010/main" val="1922670518"/>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C741A71-FD11-4FDA-8BCD-B5FE0D90BAD5}" type="datetimeFigureOut">
              <a:rPr lang="en-IN" smtClean="0"/>
              <a:t>19/04/26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C793429-DB21-451E-A46A-1A495DBC5FE7}" type="slidenum">
              <a:rPr lang="en-IN" smtClean="0"/>
              <a:t>‹#›</a:t>
            </a:fld>
            <a:endParaRPr lang="en-IN"/>
          </a:p>
        </p:txBody>
      </p:sp>
    </p:spTree>
    <p:extLst>
      <p:ext uri="{BB962C8B-B14F-4D97-AF65-F5344CB8AC3E}">
        <p14:creationId xmlns:p14="http://schemas.microsoft.com/office/powerpoint/2010/main" val="2126721893"/>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C741A71-FD11-4FDA-8BCD-B5FE0D90BAD5}" type="datetimeFigureOut">
              <a:rPr lang="en-IN" smtClean="0"/>
              <a:t>19/04/26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9C793429-DB21-451E-A46A-1A495DBC5FE7}" type="slidenum">
              <a:rPr lang="en-IN" smtClean="0"/>
              <a:t>‹#›</a:t>
            </a:fld>
            <a:endParaRPr lang="en-IN"/>
          </a:p>
        </p:txBody>
      </p:sp>
    </p:spTree>
    <p:extLst>
      <p:ext uri="{BB962C8B-B14F-4D97-AF65-F5344CB8AC3E}">
        <p14:creationId xmlns:p14="http://schemas.microsoft.com/office/powerpoint/2010/main" val="3650361923"/>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07746" y="548640"/>
            <a:ext cx="4718684" cy="1920240"/>
          </a:xfrm>
        </p:spPr>
        <p:txBody>
          <a:bodyPr anchor="b"/>
          <a:lstStyle>
            <a:lvl1pPr>
              <a:defRPr sz="3840"/>
            </a:lvl1pPr>
          </a:lstStyle>
          <a:p>
            <a:r>
              <a:rPr lang="en-US"/>
              <a:t>Click to edit Master title style</a:t>
            </a:r>
          </a:p>
        </p:txBody>
      </p:sp>
      <p:sp>
        <p:nvSpPr>
          <p:cNvPr id="3" name="Content Placeholder 2"/>
          <p:cNvSpPr>
            <a:spLocks noGrp="1"/>
          </p:cNvSpPr>
          <p:nvPr>
            <p:ph idx="1"/>
          </p:nvPr>
        </p:nvSpPr>
        <p:spPr>
          <a:xfrm>
            <a:off x="6219826" y="1184911"/>
            <a:ext cx="7406640" cy="5848350"/>
          </a:xfrm>
        </p:spPr>
        <p:txBody>
          <a:bodyPr/>
          <a:lstStyle>
            <a:lvl1pPr>
              <a:defRPr sz="3840"/>
            </a:lvl1pPr>
            <a:lvl2pPr>
              <a:defRPr sz="3360"/>
            </a:lvl2pPr>
            <a:lvl3pPr>
              <a:defRPr sz="2880"/>
            </a:lvl3pPr>
            <a:lvl4pPr>
              <a:defRPr sz="2400"/>
            </a:lvl4pPr>
            <a:lvl5pPr>
              <a:defRPr sz="24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007746" y="2468880"/>
            <a:ext cx="4718684" cy="4573906"/>
          </a:xfrm>
        </p:spPr>
        <p:txBody>
          <a:bodyPr/>
          <a:lstStyle>
            <a:lvl1pPr marL="0" indent="0">
              <a:buNone/>
              <a:defRPr sz="192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fld id="{CC741A71-FD11-4FDA-8BCD-B5FE0D90BAD5}" type="datetimeFigureOut">
              <a:rPr lang="en-IN" smtClean="0"/>
              <a:t>19/04/26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C793429-DB21-451E-A46A-1A495DBC5FE7}" type="slidenum">
              <a:rPr lang="en-IN" smtClean="0"/>
              <a:t>‹#›</a:t>
            </a:fld>
            <a:endParaRPr lang="en-IN"/>
          </a:p>
        </p:txBody>
      </p:sp>
    </p:spTree>
    <p:extLst>
      <p:ext uri="{BB962C8B-B14F-4D97-AF65-F5344CB8AC3E}">
        <p14:creationId xmlns:p14="http://schemas.microsoft.com/office/powerpoint/2010/main" val="3610001065"/>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07746" y="548640"/>
            <a:ext cx="4718684" cy="1920240"/>
          </a:xfrm>
        </p:spPr>
        <p:txBody>
          <a:bodyPr anchor="b"/>
          <a:lstStyle>
            <a:lvl1pPr>
              <a:defRPr sz="3840"/>
            </a:lvl1pPr>
          </a:lstStyle>
          <a:p>
            <a:r>
              <a:rPr lang="en-US"/>
              <a:t>Click to edit Master title style</a:t>
            </a:r>
          </a:p>
        </p:txBody>
      </p:sp>
      <p:sp>
        <p:nvSpPr>
          <p:cNvPr id="3" name="Picture Placeholder 2"/>
          <p:cNvSpPr>
            <a:spLocks noGrp="1" noChangeAspect="1"/>
          </p:cNvSpPr>
          <p:nvPr>
            <p:ph type="pic" idx="1"/>
          </p:nvPr>
        </p:nvSpPr>
        <p:spPr>
          <a:xfrm>
            <a:off x="6219826" y="1184911"/>
            <a:ext cx="7406640" cy="5848350"/>
          </a:xfrm>
        </p:spPr>
        <p:txBody>
          <a:bodyPr anchor="t"/>
          <a:lstStyle>
            <a:lvl1pPr marL="0" indent="0">
              <a:buNone/>
              <a:defRPr sz="3840"/>
            </a:lvl1pPr>
            <a:lvl2pPr marL="548640" indent="0">
              <a:buNone/>
              <a:defRPr sz="3360"/>
            </a:lvl2pPr>
            <a:lvl3pPr marL="1097280" indent="0">
              <a:buNone/>
              <a:defRPr sz="2880"/>
            </a:lvl3pPr>
            <a:lvl4pPr marL="1645920" indent="0">
              <a:buNone/>
              <a:defRPr sz="2400"/>
            </a:lvl4pPr>
            <a:lvl5pPr marL="2194560" indent="0">
              <a:buNone/>
              <a:defRPr sz="2400"/>
            </a:lvl5pPr>
            <a:lvl6pPr marL="2743200" indent="0">
              <a:buNone/>
              <a:defRPr sz="2400"/>
            </a:lvl6pPr>
            <a:lvl7pPr marL="3291840" indent="0">
              <a:buNone/>
              <a:defRPr sz="2400"/>
            </a:lvl7pPr>
            <a:lvl8pPr marL="3840480" indent="0">
              <a:buNone/>
              <a:defRPr sz="2400"/>
            </a:lvl8pPr>
            <a:lvl9pPr marL="4389120" indent="0">
              <a:buNone/>
              <a:defRPr sz="2400"/>
            </a:lvl9pPr>
          </a:lstStyle>
          <a:p>
            <a:r>
              <a:rPr lang="en-US"/>
              <a:t>Click icon to add picture</a:t>
            </a:r>
          </a:p>
        </p:txBody>
      </p:sp>
      <p:sp>
        <p:nvSpPr>
          <p:cNvPr id="4" name="Text Placeholder 3"/>
          <p:cNvSpPr>
            <a:spLocks noGrp="1"/>
          </p:cNvSpPr>
          <p:nvPr>
            <p:ph type="body" sz="half" idx="2"/>
          </p:nvPr>
        </p:nvSpPr>
        <p:spPr>
          <a:xfrm>
            <a:off x="1007746" y="2468880"/>
            <a:ext cx="4718684" cy="4573906"/>
          </a:xfrm>
        </p:spPr>
        <p:txBody>
          <a:bodyPr/>
          <a:lstStyle>
            <a:lvl1pPr marL="0" indent="0">
              <a:buNone/>
              <a:defRPr sz="192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fld id="{CC741A71-FD11-4FDA-8BCD-B5FE0D90BAD5}" type="datetimeFigureOut">
              <a:rPr lang="en-IN" smtClean="0"/>
              <a:t>19/04/26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C793429-DB21-451E-A46A-1A495DBC5FE7}" type="slidenum">
              <a:rPr lang="en-IN" smtClean="0"/>
              <a:t>‹#›</a:t>
            </a:fld>
            <a:endParaRPr lang="en-IN"/>
          </a:p>
        </p:txBody>
      </p:sp>
    </p:spTree>
    <p:extLst>
      <p:ext uri="{BB962C8B-B14F-4D97-AF65-F5344CB8AC3E}">
        <p14:creationId xmlns:p14="http://schemas.microsoft.com/office/powerpoint/2010/main" val="1477729082"/>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C741A71-FD11-4FDA-8BCD-B5FE0D90BAD5}" type="datetimeFigureOut">
              <a:rPr lang="en-IN" smtClean="0"/>
              <a:t>19/04/26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C793429-DB21-451E-A46A-1A495DBC5FE7}" type="slidenum">
              <a:rPr lang="en-IN" smtClean="0"/>
              <a:t>‹#›</a:t>
            </a:fld>
            <a:endParaRPr lang="en-IN"/>
          </a:p>
        </p:txBody>
      </p:sp>
    </p:spTree>
    <p:extLst>
      <p:ext uri="{BB962C8B-B14F-4D97-AF65-F5344CB8AC3E}">
        <p14:creationId xmlns:p14="http://schemas.microsoft.com/office/powerpoint/2010/main" val="821821247"/>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469880" y="438150"/>
            <a:ext cx="3154680" cy="6974206"/>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005840" y="438150"/>
            <a:ext cx="9281160" cy="697420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C741A71-FD11-4FDA-8BCD-B5FE0D90BAD5}" type="datetimeFigureOut">
              <a:rPr lang="en-IN" smtClean="0"/>
              <a:t>19/04/26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C793429-DB21-451E-A46A-1A495DBC5FE7}" type="slidenum">
              <a:rPr lang="en-IN" smtClean="0"/>
              <a:t>‹#›</a:t>
            </a:fld>
            <a:endParaRPr lang="en-IN"/>
          </a:p>
        </p:txBody>
      </p:sp>
    </p:spTree>
    <p:extLst>
      <p:ext uri="{BB962C8B-B14F-4D97-AF65-F5344CB8AC3E}">
        <p14:creationId xmlns:p14="http://schemas.microsoft.com/office/powerpoint/2010/main" val="3284848491"/>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Slide 1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27409903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Slide 2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48330290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Slide 3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2679402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Slide 4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82181001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Slide 5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7131464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05840" y="438150"/>
            <a:ext cx="12618720" cy="1590676"/>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1005840" y="2190750"/>
            <a:ext cx="12618720" cy="522160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1005840" y="7627621"/>
            <a:ext cx="3291840" cy="438150"/>
          </a:xfrm>
          <a:prstGeom prst="rect">
            <a:avLst/>
          </a:prstGeom>
        </p:spPr>
        <p:txBody>
          <a:bodyPr vert="horz" lIns="91440" tIns="45720" rIns="91440" bIns="45720" rtlCol="0" anchor="ctr"/>
          <a:lstStyle>
            <a:lvl1pPr algn="l">
              <a:defRPr sz="1440">
                <a:solidFill>
                  <a:schemeClr val="tx1">
                    <a:tint val="82000"/>
                  </a:schemeClr>
                </a:solidFill>
              </a:defRPr>
            </a:lvl1pPr>
          </a:lstStyle>
          <a:p>
            <a:fld id="{CC741A71-FD11-4FDA-8BCD-B5FE0D90BAD5}" type="datetimeFigureOut">
              <a:rPr lang="en-IN" smtClean="0"/>
              <a:t>19/04/26</a:t>
            </a:fld>
            <a:endParaRPr lang="en-IN"/>
          </a:p>
        </p:txBody>
      </p:sp>
      <p:sp>
        <p:nvSpPr>
          <p:cNvPr id="5" name="Footer Placeholder 4"/>
          <p:cNvSpPr>
            <a:spLocks noGrp="1"/>
          </p:cNvSpPr>
          <p:nvPr>
            <p:ph type="ftr" sz="quarter" idx="3"/>
          </p:nvPr>
        </p:nvSpPr>
        <p:spPr>
          <a:xfrm>
            <a:off x="4846320" y="7627621"/>
            <a:ext cx="4937760" cy="438150"/>
          </a:xfrm>
          <a:prstGeom prst="rect">
            <a:avLst/>
          </a:prstGeom>
        </p:spPr>
        <p:txBody>
          <a:bodyPr vert="horz" lIns="91440" tIns="45720" rIns="91440" bIns="45720" rtlCol="0" anchor="ctr"/>
          <a:lstStyle>
            <a:lvl1pPr algn="ctr">
              <a:defRPr sz="1440">
                <a:solidFill>
                  <a:schemeClr val="tx1">
                    <a:tint val="82000"/>
                  </a:schemeClr>
                </a:solidFill>
              </a:defRPr>
            </a:lvl1pPr>
          </a:lstStyle>
          <a:p>
            <a:endParaRPr lang="en-IN"/>
          </a:p>
        </p:txBody>
      </p:sp>
      <p:sp>
        <p:nvSpPr>
          <p:cNvPr id="6" name="Slide Number Placeholder 5"/>
          <p:cNvSpPr>
            <a:spLocks noGrp="1"/>
          </p:cNvSpPr>
          <p:nvPr>
            <p:ph type="sldNum" sz="quarter" idx="4"/>
          </p:nvPr>
        </p:nvSpPr>
        <p:spPr>
          <a:xfrm>
            <a:off x="10332720" y="7627621"/>
            <a:ext cx="3291840" cy="438150"/>
          </a:xfrm>
          <a:prstGeom prst="rect">
            <a:avLst/>
          </a:prstGeom>
        </p:spPr>
        <p:txBody>
          <a:bodyPr vert="horz" lIns="91440" tIns="45720" rIns="91440" bIns="45720" rtlCol="0" anchor="ctr"/>
          <a:lstStyle>
            <a:lvl1pPr algn="r">
              <a:defRPr sz="1440">
                <a:solidFill>
                  <a:schemeClr val="tx1">
                    <a:tint val="82000"/>
                  </a:schemeClr>
                </a:solidFill>
              </a:defRPr>
            </a:lvl1pPr>
          </a:lstStyle>
          <a:p>
            <a:fld id="{9C793429-DB21-451E-A46A-1A495DBC5FE7}" type="slidenum">
              <a:rPr lang="en-IN" smtClean="0"/>
              <a:t>‹#›</a:t>
            </a:fld>
            <a:endParaRPr lang="en-IN"/>
          </a:p>
        </p:txBody>
      </p:sp>
    </p:spTree>
    <p:extLst>
      <p:ext uri="{BB962C8B-B14F-4D97-AF65-F5344CB8AC3E}">
        <p14:creationId xmlns:p14="http://schemas.microsoft.com/office/powerpoint/2010/main" val="3016544391"/>
      </p:ext>
    </p:extLst>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 id="2147483701" r:id="rId12"/>
    <p:sldLayoutId id="2147483702" r:id="rId13"/>
    <p:sldLayoutId id="2147483703" r:id="rId14"/>
    <p:sldLayoutId id="2147483704" r:id="rId15"/>
    <p:sldLayoutId id="2147483705" r:id="rId16"/>
  </p:sldLayoutIdLst>
  <p:hf sldNum="0" hdr="0" ftr="0" dt="0"/>
  <p:txStyles>
    <p:titleStyle>
      <a:lvl1pPr algn="l" defTabSz="1097280" rtl="0" eaLnBrk="1" latinLnBrk="0" hangingPunct="1">
        <a:lnSpc>
          <a:spcPct val="90000"/>
        </a:lnSpc>
        <a:spcBef>
          <a:spcPct val="0"/>
        </a:spcBef>
        <a:buNone/>
        <a:defRPr sz="5280" kern="1200">
          <a:solidFill>
            <a:schemeClr val="tx1"/>
          </a:solidFill>
          <a:latin typeface="+mj-lt"/>
          <a:ea typeface="+mj-ea"/>
          <a:cs typeface="+mj-cs"/>
        </a:defRPr>
      </a:lvl1pPr>
    </p:titleStyle>
    <p:bodyStyle>
      <a:lvl1pPr marL="274320" indent="-274320" algn="l" defTabSz="1097280" rtl="0" eaLnBrk="1" latinLnBrk="0" hangingPunct="1">
        <a:lnSpc>
          <a:spcPct val="90000"/>
        </a:lnSpc>
        <a:spcBef>
          <a:spcPts val="1200"/>
        </a:spcBef>
        <a:buFont typeface="Arial" panose="020B0604020202020204" pitchFamily="34" charset="0"/>
        <a:buChar char="•"/>
        <a:defRPr sz="3360" kern="1200">
          <a:solidFill>
            <a:schemeClr val="tx1"/>
          </a:solidFill>
          <a:latin typeface="+mn-lt"/>
          <a:ea typeface="+mn-ea"/>
          <a:cs typeface="+mn-cs"/>
        </a:defRPr>
      </a:lvl1pPr>
      <a:lvl2pPr marL="822960" indent="-274320" algn="l" defTabSz="1097280" rtl="0" eaLnBrk="1" latinLnBrk="0" hangingPunct="1">
        <a:lnSpc>
          <a:spcPct val="90000"/>
        </a:lnSpc>
        <a:spcBef>
          <a:spcPts val="600"/>
        </a:spcBef>
        <a:buFont typeface="Arial" panose="020B0604020202020204" pitchFamily="34" charset="0"/>
        <a:buChar char="•"/>
        <a:defRPr sz="2880" kern="1200">
          <a:solidFill>
            <a:schemeClr val="tx1"/>
          </a:solidFill>
          <a:latin typeface="+mn-lt"/>
          <a:ea typeface="+mn-ea"/>
          <a:cs typeface="+mn-cs"/>
        </a:defRPr>
      </a:lvl2pPr>
      <a:lvl3pPr marL="1371600" indent="-274320" algn="l" defTabSz="1097280" rtl="0" eaLnBrk="1" latinLnBrk="0" hangingPunct="1">
        <a:lnSpc>
          <a:spcPct val="90000"/>
        </a:lnSpc>
        <a:spcBef>
          <a:spcPts val="600"/>
        </a:spcBef>
        <a:buFont typeface="Arial" panose="020B0604020202020204" pitchFamily="34" charset="0"/>
        <a:buChar char="•"/>
        <a:defRPr sz="2400" kern="1200">
          <a:solidFill>
            <a:schemeClr val="tx1"/>
          </a:solidFill>
          <a:latin typeface="+mn-lt"/>
          <a:ea typeface="+mn-ea"/>
          <a:cs typeface="+mn-cs"/>
        </a:defRPr>
      </a:lvl3pPr>
      <a:lvl4pPr marL="19202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4pPr>
      <a:lvl5pPr marL="246888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p:bodyStyle>
    <p:other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notesSlide" Target="../notesSlides/notesSlide2.xml"/><Relationship Id="rId1" Type="http://schemas.openxmlformats.org/officeDocument/2006/relationships/slideLayout" Target="../slideLayouts/slideLayout13.xml"/><Relationship Id="rId6" Type="http://schemas.openxmlformats.org/officeDocument/2006/relationships/image" Target="../media/image5.svg"/><Relationship Id="rId5" Type="http://schemas.openxmlformats.org/officeDocument/2006/relationships/image" Target="../media/image4.svg"/><Relationship Id="rId4" Type="http://schemas.openxmlformats.org/officeDocument/2006/relationships/image" Target="../media/image3.sv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15.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14.svg"/><Relationship Id="rId7" Type="http://schemas.openxmlformats.org/officeDocument/2006/relationships/image" Target="../media/image18.svg"/><Relationship Id="rId2" Type="http://schemas.openxmlformats.org/officeDocument/2006/relationships/notesSlide" Target="../notesSlides/notesSlide5.xml"/><Relationship Id="rId1" Type="http://schemas.openxmlformats.org/officeDocument/2006/relationships/slideLayout" Target="../slideLayouts/slideLayout16.xml"/><Relationship Id="rId6" Type="http://schemas.openxmlformats.org/officeDocument/2006/relationships/image" Target="../media/image17.svg"/><Relationship Id="rId5" Type="http://schemas.openxmlformats.org/officeDocument/2006/relationships/image" Target="../media/image16.svg"/><Relationship Id="rId4" Type="http://schemas.openxmlformats.org/officeDocument/2006/relationships/image" Target="../media/image15.svg"/><Relationship Id="rId9" Type="http://schemas.openxmlformats.org/officeDocument/2006/relationships/image" Target="../media/image20.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98EB3B1-DF76-53E8-2B98-4BC220704682}"/>
              </a:ext>
            </a:extLst>
          </p:cNvPr>
          <p:cNvSpPr txBox="1"/>
          <p:nvPr/>
        </p:nvSpPr>
        <p:spPr>
          <a:xfrm>
            <a:off x="328773" y="770562"/>
            <a:ext cx="13972854" cy="6678751"/>
          </a:xfrm>
          <a:prstGeom prst="rect">
            <a:avLst/>
          </a:prstGeom>
          <a:noFill/>
        </p:spPr>
        <p:txBody>
          <a:bodyPr wrap="square" rtlCol="0">
            <a:spAutoFit/>
          </a:bodyPr>
          <a:lstStyle/>
          <a:p>
            <a:pPr algn="ctr"/>
            <a:r>
              <a:rPr lang="en-IN" sz="3600" b="1" i="1">
                <a:latin typeface="Times New Roman" panose="02020603050405020304" pitchFamily="18" charset="0"/>
                <a:cs typeface="Times New Roman" panose="02020603050405020304" pitchFamily="18" charset="0"/>
              </a:rPr>
              <a:t>MES ABASAHEB GARWARE COLLEGE , PUNE</a:t>
            </a:r>
          </a:p>
          <a:p>
            <a:pPr algn="ctr"/>
            <a:endParaRPr lang="en-IN" sz="3600" b="1" i="1">
              <a:latin typeface="Times New Roman" panose="02020603050405020304" pitchFamily="18" charset="0"/>
              <a:cs typeface="Times New Roman" panose="02020603050405020304" pitchFamily="18" charset="0"/>
            </a:endParaRPr>
          </a:p>
          <a:p>
            <a:pPr algn="ctr"/>
            <a:endParaRPr lang="en-IN" sz="3600" b="1" i="1">
              <a:latin typeface="Times New Roman" panose="02020603050405020304" pitchFamily="18" charset="0"/>
              <a:cs typeface="Times New Roman" panose="02020603050405020304" pitchFamily="18" charset="0"/>
            </a:endParaRPr>
          </a:p>
          <a:p>
            <a:pPr algn="ctr"/>
            <a:r>
              <a:rPr lang="en-IN" sz="3200" b="1">
                <a:latin typeface="Times New Roman" panose="02020603050405020304" pitchFamily="18" charset="0"/>
                <a:cs typeface="Times New Roman" panose="02020603050405020304" pitchFamily="18" charset="0"/>
              </a:rPr>
              <a:t>F.Y.M.S.C(C.S) SEMESTER-2</a:t>
            </a:r>
          </a:p>
          <a:p>
            <a:pPr algn="ctr"/>
            <a:endParaRPr lang="en-IN" sz="3200" b="1">
              <a:latin typeface="Times New Roman" panose="02020603050405020304" pitchFamily="18" charset="0"/>
              <a:cs typeface="Times New Roman" panose="02020603050405020304" pitchFamily="18" charset="0"/>
            </a:endParaRPr>
          </a:p>
          <a:p>
            <a:pPr algn="ctr"/>
            <a:r>
              <a:rPr lang="en-IN" sz="3200" b="1">
                <a:latin typeface="Times New Roman" panose="02020603050405020304" pitchFamily="18" charset="0"/>
                <a:cs typeface="Times New Roman" panose="02020603050405020304" pitchFamily="18" charset="0"/>
              </a:rPr>
              <a:t>PROJECT TITLE </a:t>
            </a:r>
          </a:p>
          <a:p>
            <a:pPr algn="ctr"/>
            <a:r>
              <a:rPr lang="en-IN" sz="2400">
                <a:latin typeface="Times New Roman" panose="02020603050405020304" pitchFamily="18" charset="0"/>
                <a:cs typeface="Times New Roman" panose="02020603050405020304" pitchFamily="18" charset="0"/>
              </a:rPr>
              <a:t>FACE RECOGNITION ATTENDANCE SYSTEM </a:t>
            </a:r>
          </a:p>
          <a:p>
            <a:pPr algn="ctr"/>
            <a:endParaRPr lang="en-IN" sz="3200">
              <a:latin typeface="Times New Roman" panose="02020603050405020304" pitchFamily="18" charset="0"/>
              <a:cs typeface="Times New Roman" panose="02020603050405020304" pitchFamily="18" charset="0"/>
            </a:endParaRPr>
          </a:p>
          <a:p>
            <a:pPr algn="ctr"/>
            <a:r>
              <a:rPr lang="en-IN" sz="3200" b="1">
                <a:latin typeface="Times New Roman" panose="02020603050405020304" pitchFamily="18" charset="0"/>
                <a:cs typeface="Times New Roman" panose="02020603050405020304" pitchFamily="18" charset="0"/>
              </a:rPr>
              <a:t>SUBMITTED BY :</a:t>
            </a:r>
          </a:p>
          <a:p>
            <a:pPr algn="ctr"/>
            <a:r>
              <a:rPr lang="en-IN" sz="2400">
                <a:latin typeface="Times New Roman" panose="02020603050405020304" pitchFamily="18" charset="0"/>
                <a:cs typeface="Times New Roman" panose="02020603050405020304" pitchFamily="18" charset="0"/>
              </a:rPr>
              <a:t>SHARVARI SHIRISH SHUKLA(16646)</a:t>
            </a:r>
          </a:p>
          <a:p>
            <a:pPr algn="ctr"/>
            <a:r>
              <a:rPr lang="en-IN" sz="2400">
                <a:latin typeface="Times New Roman" panose="02020603050405020304" pitchFamily="18" charset="0"/>
                <a:cs typeface="Times New Roman" panose="02020603050405020304" pitchFamily="18" charset="0"/>
              </a:rPr>
              <a:t>MADHURA RAMCHANDRA DESHMUKH(16629)</a:t>
            </a:r>
          </a:p>
          <a:p>
            <a:pPr algn="ctr"/>
            <a:endParaRPr lang="en-IN" sz="3200">
              <a:latin typeface="Times New Roman" panose="02020603050405020304" pitchFamily="18" charset="0"/>
              <a:cs typeface="Times New Roman" panose="02020603050405020304" pitchFamily="18" charset="0"/>
            </a:endParaRPr>
          </a:p>
          <a:p>
            <a:pPr algn="ctr"/>
            <a:r>
              <a:rPr lang="en-IN" sz="3200" b="1">
                <a:latin typeface="Times New Roman" panose="02020603050405020304" pitchFamily="18" charset="0"/>
                <a:cs typeface="Times New Roman" panose="02020603050405020304" pitchFamily="18" charset="0"/>
              </a:rPr>
              <a:t>UNDER GUIDANCE BY</a:t>
            </a:r>
          </a:p>
          <a:p>
            <a:pPr algn="ctr"/>
            <a:r>
              <a:rPr lang="en-IN" sz="2400">
                <a:latin typeface="Times New Roman" panose="02020603050405020304" pitchFamily="18" charset="0"/>
                <a:cs typeface="Times New Roman" panose="02020603050405020304" pitchFamily="18" charset="0"/>
              </a:rPr>
              <a:t>DR. MANISHA BHARAMBE</a:t>
            </a:r>
          </a:p>
        </p:txBody>
      </p:sp>
    </p:spTree>
    <p:extLst>
      <p:ext uri="{BB962C8B-B14F-4D97-AF65-F5344CB8AC3E}">
        <p14:creationId xmlns:p14="http://schemas.microsoft.com/office/powerpoint/2010/main" val="19702635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9144000" y="0"/>
            <a:ext cx="5486400" cy="8229600"/>
          </a:xfrm>
          <a:prstGeom prst="rect">
            <a:avLst/>
          </a:prstGeom>
          <a:solidFill>
            <a:srgbClr val="F3EEE3"/>
          </a:solidFill>
          <a:ln/>
        </p:spPr>
      </p:sp>
      <p:pic>
        <p:nvPicPr>
          <p:cNvPr id="3" name="Image 0" descr="preencoded.png"/>
          <p:cNvPicPr>
            <a:picLocks noChangeAspect="1"/>
          </p:cNvPicPr>
          <p:nvPr/>
        </p:nvPicPr>
        <p:blipFill>
          <a:blip r:embed="rId3"/>
          <a:stretch>
            <a:fillRect/>
          </a:stretch>
        </p:blipFill>
        <p:spPr>
          <a:xfrm>
            <a:off x="9243179" y="148709"/>
            <a:ext cx="5288042" cy="7932063"/>
          </a:xfrm>
          <a:prstGeom prst="rect">
            <a:avLst/>
          </a:prstGeom>
        </p:spPr>
      </p:pic>
      <p:sp>
        <p:nvSpPr>
          <p:cNvPr id="4" name="Text 1"/>
          <p:cNvSpPr/>
          <p:nvPr/>
        </p:nvSpPr>
        <p:spPr>
          <a:xfrm>
            <a:off x="793790" y="1646515"/>
            <a:ext cx="7556421" cy="1240155"/>
          </a:xfrm>
          <a:prstGeom prst="rect">
            <a:avLst/>
          </a:prstGeom>
          <a:noFill/>
          <a:ln/>
        </p:spPr>
        <p:txBody>
          <a:bodyPr wrap="square" lIns="0" tIns="0" rIns="0" bIns="0" rtlCol="0" anchor="t"/>
          <a:lstStyle/>
          <a:p>
            <a:pPr marL="0" indent="0" algn="l">
              <a:lnSpc>
                <a:spcPts val="4850"/>
              </a:lnSpc>
              <a:buNone/>
            </a:pPr>
            <a:r>
              <a:rPr lang="en-US" sz="4400">
                <a:solidFill>
                  <a:srgbClr val="124E73"/>
                </a:solidFill>
                <a:latin typeface="Times New Roman" panose="02020603050405020304" pitchFamily="18" charset="0"/>
                <a:ea typeface="MuseoModerno Medium" pitchFamily="34" charset="-122"/>
                <a:cs typeface="Times New Roman" panose="02020603050405020304" pitchFamily="18" charset="0"/>
              </a:rPr>
              <a:t>Face Recognition Attendance System</a:t>
            </a:r>
            <a:endParaRPr lang="en-US" sz="4400">
              <a:latin typeface="Times New Roman" panose="02020603050405020304" pitchFamily="18" charset="0"/>
              <a:cs typeface="Times New Roman" panose="02020603050405020304" pitchFamily="18" charset="0"/>
            </a:endParaRPr>
          </a:p>
        </p:txBody>
      </p:sp>
      <p:sp>
        <p:nvSpPr>
          <p:cNvPr id="5" name="Text 2"/>
          <p:cNvSpPr/>
          <p:nvPr/>
        </p:nvSpPr>
        <p:spPr>
          <a:xfrm>
            <a:off x="793790" y="3184327"/>
            <a:ext cx="7556421" cy="1270159"/>
          </a:xfrm>
          <a:prstGeom prst="rect">
            <a:avLst/>
          </a:prstGeom>
          <a:noFill/>
          <a:ln/>
        </p:spPr>
        <p:txBody>
          <a:bodyPr wrap="square" lIns="0" tIns="0" rIns="0" bIns="0" rtlCol="0" anchor="t"/>
          <a:lstStyle/>
          <a:p>
            <a:pPr marL="0" indent="0" algn="l">
              <a:lnSpc>
                <a:spcPts val="2500"/>
              </a:lnSpc>
              <a:buNone/>
            </a:pPr>
            <a:r>
              <a:rPr lang="en-US" sz="1550">
                <a:solidFill>
                  <a:srgbClr val="2B4150"/>
                </a:solidFill>
                <a:latin typeface="Source Sans 3" pitchFamily="34" charset="0"/>
                <a:ea typeface="Source Sans 3" pitchFamily="34" charset="-122"/>
                <a:cs typeface="Source Sans 3" pitchFamily="34" charset="-120"/>
              </a:rPr>
              <a:t>In today's digital era, automation plays a crucial role in improving efficiency and accuracy across various systems. Traditional attendance methods such as manual registers and ID cards are not only time-consuming but also prone to errors like proxy attendance, where one student marks another's attendance.</a:t>
            </a:r>
            <a:endParaRPr lang="en-US" sz="1550"/>
          </a:p>
        </p:txBody>
      </p:sp>
      <p:sp>
        <p:nvSpPr>
          <p:cNvPr id="6" name="Text 3"/>
          <p:cNvSpPr/>
          <p:nvPr/>
        </p:nvSpPr>
        <p:spPr>
          <a:xfrm>
            <a:off x="793790" y="4677728"/>
            <a:ext cx="7556421" cy="1905238"/>
          </a:xfrm>
          <a:prstGeom prst="rect">
            <a:avLst/>
          </a:prstGeom>
          <a:noFill/>
          <a:ln/>
        </p:spPr>
        <p:txBody>
          <a:bodyPr wrap="square" lIns="0" tIns="0" rIns="0" bIns="0" rtlCol="0" anchor="t"/>
          <a:lstStyle/>
          <a:p>
            <a:pPr marL="0" indent="0" algn="l">
              <a:lnSpc>
                <a:spcPts val="2500"/>
              </a:lnSpc>
              <a:buNone/>
            </a:pPr>
            <a:r>
              <a:rPr lang="en-US" sz="1550">
                <a:solidFill>
                  <a:srgbClr val="2B4150"/>
                </a:solidFill>
                <a:latin typeface="Source Sans 3" pitchFamily="34" charset="0"/>
                <a:ea typeface="Source Sans 3" pitchFamily="34" charset="-122"/>
                <a:cs typeface="Source Sans 3" pitchFamily="34" charset="-120"/>
              </a:rPr>
              <a:t>To overcome these critical issues, our project provides an automated and intelligent solution using Computer Vision and Machine Learning. This system captures facial images using a webcam, detects and recognizes faces in real-time, and automatically marks attendance with date and time stamps. The result is a system that ensures accuracy, security, and efficiency while dramatically reducing manual effort and eliminating opportunities for fraud.</a:t>
            </a:r>
            <a:endParaRPr lang="en-US" sz="155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82228" y="554474"/>
            <a:ext cx="4263985" cy="532924"/>
          </a:xfrm>
          <a:prstGeom prst="rect">
            <a:avLst/>
          </a:prstGeom>
          <a:noFill/>
          <a:ln/>
        </p:spPr>
        <p:txBody>
          <a:bodyPr wrap="none" lIns="0" tIns="0" rIns="0" bIns="0" rtlCol="0" anchor="t"/>
          <a:lstStyle/>
          <a:p>
            <a:pPr marL="0" indent="0" algn="l">
              <a:lnSpc>
                <a:spcPts val="4150"/>
              </a:lnSpc>
              <a:buNone/>
            </a:pPr>
            <a:r>
              <a:rPr lang="en-US" sz="4000">
                <a:solidFill>
                  <a:srgbClr val="124E73"/>
                </a:solidFill>
                <a:latin typeface="Times New Roman" panose="02020603050405020304" pitchFamily="18" charset="0"/>
                <a:ea typeface="MuseoModerno Medium" pitchFamily="34" charset="-122"/>
                <a:cs typeface="Times New Roman" panose="02020603050405020304" pitchFamily="18" charset="0"/>
              </a:rPr>
              <a:t>Project Objectives</a:t>
            </a:r>
            <a:endParaRPr lang="en-US" sz="4000">
              <a:latin typeface="Times New Roman" panose="02020603050405020304" pitchFamily="18" charset="0"/>
              <a:cs typeface="Times New Roman" panose="02020603050405020304" pitchFamily="18" charset="0"/>
            </a:endParaRPr>
          </a:p>
        </p:txBody>
      </p:sp>
      <p:sp>
        <p:nvSpPr>
          <p:cNvPr id="3" name="Text 1"/>
          <p:cNvSpPr/>
          <p:nvPr/>
        </p:nvSpPr>
        <p:spPr>
          <a:xfrm>
            <a:off x="682228" y="1380530"/>
            <a:ext cx="13265944" cy="253722"/>
          </a:xfrm>
          <a:prstGeom prst="rect">
            <a:avLst/>
          </a:prstGeom>
          <a:noFill/>
          <a:ln/>
        </p:spPr>
        <p:txBody>
          <a:bodyPr wrap="none" lIns="0" tIns="0" rIns="0" bIns="0" rtlCol="0" anchor="t"/>
          <a:lstStyle/>
          <a:p>
            <a:pPr marL="0" indent="0" algn="l">
              <a:lnSpc>
                <a:spcPts val="1950"/>
              </a:lnSpc>
              <a:buNone/>
            </a:pPr>
            <a:r>
              <a:rPr lang="en-US" sz="1300">
                <a:solidFill>
                  <a:srgbClr val="2B4150"/>
                </a:solidFill>
                <a:latin typeface="Source Sans 3" pitchFamily="34" charset="0"/>
                <a:ea typeface="Source Sans 3" pitchFamily="34" charset="-122"/>
                <a:cs typeface="Source Sans 3" pitchFamily="34" charset="-120"/>
              </a:rPr>
              <a:t>Our system was designed with specific goals that address the limitations of traditional attendance methods:</a:t>
            </a:r>
            <a:endParaRPr lang="en-US" sz="1300"/>
          </a:p>
        </p:txBody>
      </p:sp>
      <p:sp>
        <p:nvSpPr>
          <p:cNvPr id="4" name="Shape 2"/>
          <p:cNvSpPr/>
          <p:nvPr/>
        </p:nvSpPr>
        <p:spPr>
          <a:xfrm>
            <a:off x="682228" y="1799034"/>
            <a:ext cx="6559629" cy="1860947"/>
          </a:xfrm>
          <a:prstGeom prst="roundRect">
            <a:avLst>
              <a:gd name="adj" fmla="val 1375"/>
            </a:avLst>
          </a:prstGeom>
          <a:solidFill>
            <a:srgbClr val="F3EEE3"/>
          </a:solidFill>
          <a:ln/>
        </p:spPr>
      </p:sp>
      <p:sp>
        <p:nvSpPr>
          <p:cNvPr id="5" name="Shape 3"/>
          <p:cNvSpPr/>
          <p:nvPr/>
        </p:nvSpPr>
        <p:spPr>
          <a:xfrm>
            <a:off x="852726" y="1969532"/>
            <a:ext cx="511612" cy="511612"/>
          </a:xfrm>
          <a:prstGeom prst="roundRect">
            <a:avLst>
              <a:gd name="adj" fmla="val 17871132"/>
            </a:avLst>
          </a:prstGeom>
          <a:solidFill>
            <a:srgbClr val="325F7B"/>
          </a:solidFill>
          <a:ln/>
        </p:spPr>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18" y="-5115726"/>
            <a:ext cx="230148" cy="230148"/>
          </a:xfrm>
          <a:prstGeom prst="rect">
            <a:avLst/>
          </a:prstGeom>
        </p:spPr>
      </p:pic>
      <p:sp>
        <p:nvSpPr>
          <p:cNvPr id="7" name="Text 4"/>
          <p:cNvSpPr/>
          <p:nvPr/>
        </p:nvSpPr>
        <p:spPr>
          <a:xfrm>
            <a:off x="852726" y="2627709"/>
            <a:ext cx="2427089" cy="266462"/>
          </a:xfrm>
          <a:prstGeom prst="rect">
            <a:avLst/>
          </a:prstGeom>
          <a:noFill/>
          <a:ln/>
        </p:spPr>
        <p:txBody>
          <a:bodyPr wrap="none" lIns="0" tIns="0" rIns="0" bIns="0" rtlCol="0" anchor="t"/>
          <a:lstStyle/>
          <a:p>
            <a:pPr marL="0" indent="0" algn="l">
              <a:lnSpc>
                <a:spcPts val="2050"/>
              </a:lnSpc>
              <a:buNone/>
            </a:pPr>
            <a:r>
              <a:rPr lang="en-US">
                <a:solidFill>
                  <a:srgbClr val="2B4150"/>
                </a:solidFill>
                <a:latin typeface="Times New Roman" panose="02020603050405020304" pitchFamily="18" charset="0"/>
                <a:ea typeface="MuseoModerno Medium" pitchFamily="34" charset="-122"/>
                <a:cs typeface="Times New Roman" panose="02020603050405020304" pitchFamily="18" charset="0"/>
              </a:rPr>
              <a:t>Automated Attendance</a:t>
            </a:r>
            <a:endParaRPr lang="en-US">
              <a:latin typeface="Times New Roman" panose="02020603050405020304" pitchFamily="18" charset="0"/>
              <a:cs typeface="Times New Roman" panose="02020603050405020304" pitchFamily="18" charset="0"/>
            </a:endParaRPr>
          </a:p>
        </p:txBody>
      </p:sp>
      <p:sp>
        <p:nvSpPr>
          <p:cNvPr id="8" name="Text 5"/>
          <p:cNvSpPr/>
          <p:nvPr/>
        </p:nvSpPr>
        <p:spPr>
          <a:xfrm>
            <a:off x="852726" y="2982039"/>
            <a:ext cx="6218634" cy="507444"/>
          </a:xfrm>
          <a:prstGeom prst="rect">
            <a:avLst/>
          </a:prstGeom>
          <a:noFill/>
          <a:ln/>
        </p:spPr>
        <p:txBody>
          <a:bodyPr wrap="square" lIns="0" tIns="0" rIns="0" bIns="0" rtlCol="0" anchor="t"/>
          <a:lstStyle/>
          <a:p>
            <a:pPr marL="0" indent="0" algn="l">
              <a:lnSpc>
                <a:spcPts val="1950"/>
              </a:lnSpc>
              <a:buNone/>
            </a:pPr>
            <a:r>
              <a:rPr lang="en-US" sz="1300">
                <a:solidFill>
                  <a:srgbClr val="2B4150"/>
                </a:solidFill>
                <a:latin typeface="Source Sans 3" pitchFamily="34" charset="0"/>
                <a:ea typeface="Source Sans 3" pitchFamily="34" charset="-122"/>
                <a:cs typeface="Source Sans 3" pitchFamily="34" charset="-120"/>
              </a:rPr>
              <a:t>Eliminate manual data entry and automate the entire attendance marking process using face recognition technology</a:t>
            </a:r>
            <a:endParaRPr lang="en-US" sz="1300"/>
          </a:p>
        </p:txBody>
      </p:sp>
      <p:sp>
        <p:nvSpPr>
          <p:cNvPr id="9" name="Shape 6"/>
          <p:cNvSpPr/>
          <p:nvPr/>
        </p:nvSpPr>
        <p:spPr>
          <a:xfrm>
            <a:off x="7388423" y="1799034"/>
            <a:ext cx="6559748" cy="1860947"/>
          </a:xfrm>
          <a:prstGeom prst="roundRect">
            <a:avLst>
              <a:gd name="adj" fmla="val 1375"/>
            </a:avLst>
          </a:prstGeom>
          <a:solidFill>
            <a:srgbClr val="F3EEE3"/>
          </a:solidFill>
          <a:ln/>
        </p:spPr>
      </p:sp>
      <p:sp>
        <p:nvSpPr>
          <p:cNvPr id="10" name="Shape 7"/>
          <p:cNvSpPr/>
          <p:nvPr/>
        </p:nvSpPr>
        <p:spPr>
          <a:xfrm>
            <a:off x="7558921" y="1969532"/>
            <a:ext cx="511612" cy="511612"/>
          </a:xfrm>
          <a:prstGeom prst="roundRect">
            <a:avLst>
              <a:gd name="adj" fmla="val 17871132"/>
            </a:avLst>
          </a:prstGeom>
          <a:solidFill>
            <a:srgbClr val="325F7B"/>
          </a:solidFill>
          <a:ln/>
        </p:spPr>
      </p:sp>
      <p:pic>
        <p:nvPicPr>
          <p:cNvPr id="11"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699653" y="2110264"/>
            <a:ext cx="230148" cy="230148"/>
          </a:xfrm>
          <a:prstGeom prst="rect">
            <a:avLst/>
          </a:prstGeom>
        </p:spPr>
      </p:pic>
      <p:sp>
        <p:nvSpPr>
          <p:cNvPr id="12" name="Text 8"/>
          <p:cNvSpPr/>
          <p:nvPr/>
        </p:nvSpPr>
        <p:spPr>
          <a:xfrm>
            <a:off x="7558921" y="2627709"/>
            <a:ext cx="2691170" cy="266462"/>
          </a:xfrm>
          <a:prstGeom prst="rect">
            <a:avLst/>
          </a:prstGeom>
          <a:noFill/>
          <a:ln/>
        </p:spPr>
        <p:txBody>
          <a:bodyPr wrap="none" lIns="0" tIns="0" rIns="0" bIns="0" rtlCol="0" anchor="t"/>
          <a:lstStyle/>
          <a:p>
            <a:pPr marL="0" indent="0" algn="l">
              <a:lnSpc>
                <a:spcPts val="2050"/>
              </a:lnSpc>
              <a:buNone/>
            </a:pPr>
            <a:r>
              <a:rPr lang="en-US">
                <a:solidFill>
                  <a:srgbClr val="2B4150"/>
                </a:solidFill>
                <a:latin typeface="Times New Roman" panose="02020603050405020304" pitchFamily="18" charset="0"/>
                <a:ea typeface="MuseoModerno Medium" pitchFamily="34" charset="-122"/>
                <a:cs typeface="Times New Roman" panose="02020603050405020304" pitchFamily="18" charset="0"/>
              </a:rPr>
              <a:t>Prevent Proxy Attendance</a:t>
            </a:r>
            <a:endParaRPr lang="en-US">
              <a:latin typeface="Times New Roman" panose="02020603050405020304" pitchFamily="18" charset="0"/>
              <a:cs typeface="Times New Roman" panose="02020603050405020304" pitchFamily="18" charset="0"/>
            </a:endParaRPr>
          </a:p>
        </p:txBody>
      </p:sp>
      <p:sp>
        <p:nvSpPr>
          <p:cNvPr id="13" name="Text 9"/>
          <p:cNvSpPr/>
          <p:nvPr/>
        </p:nvSpPr>
        <p:spPr>
          <a:xfrm>
            <a:off x="7558921" y="2982039"/>
            <a:ext cx="6218753" cy="507444"/>
          </a:xfrm>
          <a:prstGeom prst="rect">
            <a:avLst/>
          </a:prstGeom>
          <a:noFill/>
          <a:ln/>
        </p:spPr>
        <p:txBody>
          <a:bodyPr wrap="square" lIns="0" tIns="0" rIns="0" bIns="0" rtlCol="0" anchor="t"/>
          <a:lstStyle/>
          <a:p>
            <a:pPr marL="0" indent="0" algn="l">
              <a:lnSpc>
                <a:spcPts val="1950"/>
              </a:lnSpc>
              <a:buNone/>
            </a:pPr>
            <a:r>
              <a:rPr lang="en-US" sz="1300">
                <a:solidFill>
                  <a:srgbClr val="2B4150"/>
                </a:solidFill>
                <a:latin typeface="Source Sans 3" pitchFamily="34" charset="0"/>
                <a:ea typeface="Source Sans 3" pitchFamily="34" charset="-122"/>
                <a:cs typeface="Source Sans 3" pitchFamily="34" charset="-120"/>
              </a:rPr>
              <a:t>Completely eliminate fraudulent practices where students mark attendance for absent classmates through biometric verification</a:t>
            </a:r>
            <a:endParaRPr lang="en-US" sz="1300"/>
          </a:p>
        </p:txBody>
      </p:sp>
      <p:sp>
        <p:nvSpPr>
          <p:cNvPr id="14" name="Shape 10"/>
          <p:cNvSpPr/>
          <p:nvPr/>
        </p:nvSpPr>
        <p:spPr>
          <a:xfrm>
            <a:off x="682228" y="3806547"/>
            <a:ext cx="6559629" cy="1860947"/>
          </a:xfrm>
          <a:prstGeom prst="roundRect">
            <a:avLst>
              <a:gd name="adj" fmla="val 1375"/>
            </a:avLst>
          </a:prstGeom>
          <a:solidFill>
            <a:srgbClr val="F3EEE3"/>
          </a:solidFill>
          <a:ln/>
        </p:spPr>
      </p:sp>
      <p:sp>
        <p:nvSpPr>
          <p:cNvPr id="15" name="Shape 11"/>
          <p:cNvSpPr/>
          <p:nvPr/>
        </p:nvSpPr>
        <p:spPr>
          <a:xfrm>
            <a:off x="852726" y="3977045"/>
            <a:ext cx="511612" cy="511612"/>
          </a:xfrm>
          <a:prstGeom prst="roundRect">
            <a:avLst>
              <a:gd name="adj" fmla="val 17871132"/>
            </a:avLst>
          </a:prstGeom>
          <a:solidFill>
            <a:srgbClr val="325F7B"/>
          </a:solidFill>
          <a:ln/>
        </p:spPr>
      </p:sp>
      <p:pic>
        <p:nvPicPr>
          <p:cNvPr id="16"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93458" y="4117777"/>
            <a:ext cx="230148" cy="230148"/>
          </a:xfrm>
          <a:prstGeom prst="rect">
            <a:avLst/>
          </a:prstGeom>
        </p:spPr>
      </p:pic>
      <p:sp>
        <p:nvSpPr>
          <p:cNvPr id="17" name="Text 12"/>
          <p:cNvSpPr/>
          <p:nvPr/>
        </p:nvSpPr>
        <p:spPr>
          <a:xfrm>
            <a:off x="852726" y="4635222"/>
            <a:ext cx="2131933" cy="266462"/>
          </a:xfrm>
          <a:prstGeom prst="rect">
            <a:avLst/>
          </a:prstGeom>
          <a:noFill/>
          <a:ln/>
        </p:spPr>
        <p:txBody>
          <a:bodyPr wrap="none" lIns="0" tIns="0" rIns="0" bIns="0" rtlCol="0" anchor="t"/>
          <a:lstStyle/>
          <a:p>
            <a:pPr marL="0" indent="0" algn="l">
              <a:lnSpc>
                <a:spcPts val="2050"/>
              </a:lnSpc>
              <a:buNone/>
            </a:pPr>
            <a:r>
              <a:rPr lang="en-US">
                <a:solidFill>
                  <a:srgbClr val="2B4150"/>
                </a:solidFill>
                <a:latin typeface="Times New Roman" panose="02020603050405020304" pitchFamily="18" charset="0"/>
                <a:ea typeface="MuseoModerno Medium" pitchFamily="34" charset="-122"/>
                <a:cs typeface="Times New Roman" panose="02020603050405020304" pitchFamily="18" charset="0"/>
              </a:rPr>
              <a:t>Improve Accuracy</a:t>
            </a:r>
            <a:endParaRPr lang="en-US">
              <a:latin typeface="Times New Roman" panose="02020603050405020304" pitchFamily="18" charset="0"/>
              <a:cs typeface="Times New Roman" panose="02020603050405020304" pitchFamily="18" charset="0"/>
            </a:endParaRPr>
          </a:p>
        </p:txBody>
      </p:sp>
      <p:sp>
        <p:nvSpPr>
          <p:cNvPr id="18" name="Text 13"/>
          <p:cNvSpPr/>
          <p:nvPr/>
        </p:nvSpPr>
        <p:spPr>
          <a:xfrm>
            <a:off x="852726" y="4989552"/>
            <a:ext cx="6218634" cy="507444"/>
          </a:xfrm>
          <a:prstGeom prst="rect">
            <a:avLst/>
          </a:prstGeom>
          <a:noFill/>
          <a:ln/>
        </p:spPr>
        <p:txBody>
          <a:bodyPr wrap="square" lIns="0" tIns="0" rIns="0" bIns="0" rtlCol="0" anchor="t"/>
          <a:lstStyle/>
          <a:p>
            <a:pPr marL="0" indent="0" algn="l">
              <a:lnSpc>
                <a:spcPts val="1950"/>
              </a:lnSpc>
              <a:buNone/>
            </a:pPr>
            <a:r>
              <a:rPr lang="en-US" sz="1300">
                <a:solidFill>
                  <a:srgbClr val="2B4150"/>
                </a:solidFill>
                <a:latin typeface="Source Sans 3" pitchFamily="34" charset="0"/>
                <a:ea typeface="Source Sans 3" pitchFamily="34" charset="-122"/>
                <a:cs typeface="Source Sans 3" pitchFamily="34" charset="-120"/>
              </a:rPr>
              <a:t>Reduce human errors and ensure precise attendance records with biometric authentication and automated logging</a:t>
            </a:r>
            <a:endParaRPr lang="en-US" sz="1300"/>
          </a:p>
        </p:txBody>
      </p:sp>
      <p:sp>
        <p:nvSpPr>
          <p:cNvPr id="19" name="Shape 14"/>
          <p:cNvSpPr/>
          <p:nvPr/>
        </p:nvSpPr>
        <p:spPr>
          <a:xfrm>
            <a:off x="7388423" y="3806547"/>
            <a:ext cx="6559748" cy="1860947"/>
          </a:xfrm>
          <a:prstGeom prst="roundRect">
            <a:avLst>
              <a:gd name="adj" fmla="val 1375"/>
            </a:avLst>
          </a:prstGeom>
          <a:solidFill>
            <a:srgbClr val="F3EEE3"/>
          </a:solidFill>
          <a:ln/>
        </p:spPr>
      </p:sp>
      <p:sp>
        <p:nvSpPr>
          <p:cNvPr id="20" name="Shape 15"/>
          <p:cNvSpPr/>
          <p:nvPr/>
        </p:nvSpPr>
        <p:spPr>
          <a:xfrm>
            <a:off x="7558921" y="3977045"/>
            <a:ext cx="511612" cy="511612"/>
          </a:xfrm>
          <a:prstGeom prst="roundRect">
            <a:avLst>
              <a:gd name="adj" fmla="val 17871132"/>
            </a:avLst>
          </a:prstGeom>
          <a:solidFill>
            <a:srgbClr val="325F7B"/>
          </a:solidFill>
          <a:ln/>
        </p:spPr>
      </p:sp>
      <p:pic>
        <p:nvPicPr>
          <p:cNvPr id="21"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699653" y="4117777"/>
            <a:ext cx="230148" cy="230148"/>
          </a:xfrm>
          <a:prstGeom prst="rect">
            <a:avLst/>
          </a:prstGeom>
        </p:spPr>
      </p:pic>
      <p:sp>
        <p:nvSpPr>
          <p:cNvPr id="22" name="Text 16"/>
          <p:cNvSpPr/>
          <p:nvPr/>
        </p:nvSpPr>
        <p:spPr>
          <a:xfrm>
            <a:off x="7558921" y="4635222"/>
            <a:ext cx="2131933" cy="266462"/>
          </a:xfrm>
          <a:prstGeom prst="rect">
            <a:avLst/>
          </a:prstGeom>
          <a:noFill/>
          <a:ln/>
        </p:spPr>
        <p:txBody>
          <a:bodyPr wrap="none" lIns="0" tIns="0" rIns="0" bIns="0" rtlCol="0" anchor="t"/>
          <a:lstStyle/>
          <a:p>
            <a:pPr marL="0" indent="0" algn="l">
              <a:lnSpc>
                <a:spcPts val="2050"/>
              </a:lnSpc>
              <a:buNone/>
            </a:pPr>
            <a:r>
              <a:rPr lang="en-US">
                <a:solidFill>
                  <a:srgbClr val="2B4150"/>
                </a:solidFill>
                <a:latin typeface="Times New Roman" panose="02020603050405020304" pitchFamily="18" charset="0"/>
                <a:ea typeface="MuseoModerno Medium" pitchFamily="34" charset="-122"/>
                <a:cs typeface="Times New Roman" panose="02020603050405020304" pitchFamily="18" charset="0"/>
              </a:rPr>
              <a:t>Save Time</a:t>
            </a:r>
            <a:endParaRPr lang="en-US">
              <a:latin typeface="Times New Roman" panose="02020603050405020304" pitchFamily="18" charset="0"/>
              <a:cs typeface="Times New Roman" panose="02020603050405020304" pitchFamily="18" charset="0"/>
            </a:endParaRPr>
          </a:p>
        </p:txBody>
      </p:sp>
      <p:sp>
        <p:nvSpPr>
          <p:cNvPr id="23" name="Text 17"/>
          <p:cNvSpPr/>
          <p:nvPr/>
        </p:nvSpPr>
        <p:spPr>
          <a:xfrm>
            <a:off x="7558921" y="4989552"/>
            <a:ext cx="6218753" cy="507444"/>
          </a:xfrm>
          <a:prstGeom prst="rect">
            <a:avLst/>
          </a:prstGeom>
          <a:noFill/>
          <a:ln/>
        </p:spPr>
        <p:txBody>
          <a:bodyPr wrap="square" lIns="0" tIns="0" rIns="0" bIns="0" rtlCol="0" anchor="t"/>
          <a:lstStyle/>
          <a:p>
            <a:pPr marL="0" indent="0" algn="l">
              <a:lnSpc>
                <a:spcPts val="1950"/>
              </a:lnSpc>
              <a:buNone/>
            </a:pPr>
            <a:r>
              <a:rPr lang="en-US" sz="1300">
                <a:solidFill>
                  <a:srgbClr val="2B4150"/>
                </a:solidFill>
                <a:latin typeface="Source Sans 3" pitchFamily="34" charset="0"/>
                <a:ea typeface="Source Sans 3" pitchFamily="34" charset="-122"/>
                <a:cs typeface="Source Sans 3" pitchFamily="34" charset="-120"/>
              </a:rPr>
              <a:t>Eliminate time-consuming manual roll calls and reduce the attendance marking process to seconds per student</a:t>
            </a:r>
            <a:endParaRPr lang="en-US" sz="1300"/>
          </a:p>
        </p:txBody>
      </p:sp>
      <p:sp>
        <p:nvSpPr>
          <p:cNvPr id="24" name="Shape 18"/>
          <p:cNvSpPr/>
          <p:nvPr/>
        </p:nvSpPr>
        <p:spPr>
          <a:xfrm>
            <a:off x="682228" y="5814060"/>
            <a:ext cx="6559629" cy="1860947"/>
          </a:xfrm>
          <a:prstGeom prst="roundRect">
            <a:avLst>
              <a:gd name="adj" fmla="val 1375"/>
            </a:avLst>
          </a:prstGeom>
          <a:solidFill>
            <a:srgbClr val="F3EEE3"/>
          </a:solidFill>
          <a:ln/>
        </p:spPr>
      </p:sp>
      <p:sp>
        <p:nvSpPr>
          <p:cNvPr id="25" name="Shape 19"/>
          <p:cNvSpPr/>
          <p:nvPr/>
        </p:nvSpPr>
        <p:spPr>
          <a:xfrm>
            <a:off x="852726" y="5984558"/>
            <a:ext cx="511612" cy="511612"/>
          </a:xfrm>
          <a:prstGeom prst="roundRect">
            <a:avLst>
              <a:gd name="adj" fmla="val 17871132"/>
            </a:avLst>
          </a:prstGeom>
          <a:solidFill>
            <a:srgbClr val="325F7B"/>
          </a:solidFill>
          <a:ln/>
        </p:spPr>
      </p:sp>
      <p:pic>
        <p:nvPicPr>
          <p:cNvPr id="26"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93458" y="6125289"/>
            <a:ext cx="230148" cy="230148"/>
          </a:xfrm>
          <a:prstGeom prst="rect">
            <a:avLst/>
          </a:prstGeom>
        </p:spPr>
      </p:pic>
      <p:sp>
        <p:nvSpPr>
          <p:cNvPr id="27" name="Text 20"/>
          <p:cNvSpPr/>
          <p:nvPr/>
        </p:nvSpPr>
        <p:spPr>
          <a:xfrm>
            <a:off x="852726" y="6642735"/>
            <a:ext cx="2354223" cy="266462"/>
          </a:xfrm>
          <a:prstGeom prst="rect">
            <a:avLst/>
          </a:prstGeom>
          <a:noFill/>
          <a:ln/>
        </p:spPr>
        <p:txBody>
          <a:bodyPr wrap="none" lIns="0" tIns="0" rIns="0" bIns="0" rtlCol="0" anchor="t"/>
          <a:lstStyle/>
          <a:p>
            <a:pPr marL="0" indent="0" algn="l">
              <a:lnSpc>
                <a:spcPts val="2050"/>
              </a:lnSpc>
              <a:buNone/>
            </a:pPr>
            <a:r>
              <a:rPr lang="en-US">
                <a:solidFill>
                  <a:srgbClr val="2B4150"/>
                </a:solidFill>
                <a:latin typeface="Times New Roman" panose="02020603050405020304" pitchFamily="18" charset="0"/>
                <a:ea typeface="MuseoModerno Medium" pitchFamily="34" charset="-122"/>
                <a:cs typeface="Times New Roman" panose="02020603050405020304" pitchFamily="18" charset="0"/>
              </a:rPr>
              <a:t>User-Friendly Interface</a:t>
            </a:r>
            <a:endParaRPr lang="en-US">
              <a:latin typeface="Times New Roman" panose="02020603050405020304" pitchFamily="18" charset="0"/>
              <a:cs typeface="Times New Roman" panose="02020603050405020304" pitchFamily="18" charset="0"/>
            </a:endParaRPr>
          </a:p>
        </p:txBody>
      </p:sp>
      <p:sp>
        <p:nvSpPr>
          <p:cNvPr id="28" name="Text 21"/>
          <p:cNvSpPr/>
          <p:nvPr/>
        </p:nvSpPr>
        <p:spPr>
          <a:xfrm>
            <a:off x="852726" y="6997065"/>
            <a:ext cx="6218634" cy="507444"/>
          </a:xfrm>
          <a:prstGeom prst="rect">
            <a:avLst/>
          </a:prstGeom>
          <a:noFill/>
          <a:ln/>
        </p:spPr>
        <p:txBody>
          <a:bodyPr wrap="square" lIns="0" tIns="0" rIns="0" bIns="0" rtlCol="0" anchor="t"/>
          <a:lstStyle/>
          <a:p>
            <a:pPr marL="0" indent="0" algn="l">
              <a:lnSpc>
                <a:spcPts val="1950"/>
              </a:lnSpc>
              <a:buNone/>
            </a:pPr>
            <a:r>
              <a:rPr lang="en-US" sz="1300">
                <a:solidFill>
                  <a:srgbClr val="2B4150"/>
                </a:solidFill>
                <a:latin typeface="Source Sans 3" pitchFamily="34" charset="0"/>
                <a:ea typeface="Source Sans 3" pitchFamily="34" charset="-122"/>
                <a:cs typeface="Source Sans 3" pitchFamily="34" charset="-120"/>
              </a:rPr>
              <a:t>Provide an intuitive dashboard that requires minimal training and can be used by teachers and students alike</a:t>
            </a:r>
            <a:endParaRPr lang="en-US" sz="1300"/>
          </a:p>
        </p:txBody>
      </p:sp>
      <p:sp>
        <p:nvSpPr>
          <p:cNvPr id="29" name="Shape 22"/>
          <p:cNvSpPr/>
          <p:nvPr/>
        </p:nvSpPr>
        <p:spPr>
          <a:xfrm>
            <a:off x="7388423" y="5814060"/>
            <a:ext cx="6559748" cy="1860947"/>
          </a:xfrm>
          <a:prstGeom prst="roundRect">
            <a:avLst>
              <a:gd name="adj" fmla="val 1375"/>
            </a:avLst>
          </a:prstGeom>
          <a:solidFill>
            <a:srgbClr val="F3EEE3"/>
          </a:solidFill>
          <a:ln/>
        </p:spPr>
      </p:sp>
      <p:sp>
        <p:nvSpPr>
          <p:cNvPr id="30" name="Shape 23"/>
          <p:cNvSpPr/>
          <p:nvPr/>
        </p:nvSpPr>
        <p:spPr>
          <a:xfrm>
            <a:off x="7558921" y="5984558"/>
            <a:ext cx="511612" cy="511612"/>
          </a:xfrm>
          <a:prstGeom prst="roundRect">
            <a:avLst>
              <a:gd name="adj" fmla="val 17871132"/>
            </a:avLst>
          </a:prstGeom>
          <a:solidFill>
            <a:srgbClr val="325F7B"/>
          </a:solidFill>
          <a:ln/>
        </p:spPr>
      </p:sp>
      <p:pic>
        <p:nvPicPr>
          <p:cNvPr id="31"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7699653" y="6125289"/>
            <a:ext cx="230148" cy="230148"/>
          </a:xfrm>
          <a:prstGeom prst="rect">
            <a:avLst/>
          </a:prstGeom>
        </p:spPr>
      </p:pic>
      <p:sp>
        <p:nvSpPr>
          <p:cNvPr id="32" name="Text 24"/>
          <p:cNvSpPr/>
          <p:nvPr/>
        </p:nvSpPr>
        <p:spPr>
          <a:xfrm>
            <a:off x="7558921" y="6642735"/>
            <a:ext cx="2131933" cy="266462"/>
          </a:xfrm>
          <a:prstGeom prst="rect">
            <a:avLst/>
          </a:prstGeom>
          <a:noFill/>
          <a:ln/>
        </p:spPr>
        <p:txBody>
          <a:bodyPr wrap="none" lIns="0" tIns="0" rIns="0" bIns="0" rtlCol="0" anchor="t"/>
          <a:lstStyle/>
          <a:p>
            <a:pPr marL="0" indent="0" algn="l">
              <a:lnSpc>
                <a:spcPts val="2050"/>
              </a:lnSpc>
              <a:buNone/>
            </a:pPr>
            <a:r>
              <a:rPr lang="en-US">
                <a:solidFill>
                  <a:srgbClr val="2B4150"/>
                </a:solidFill>
                <a:latin typeface="Times New Roman" panose="02020603050405020304" pitchFamily="18" charset="0"/>
                <a:ea typeface="MuseoModerno Medium" pitchFamily="34" charset="-122"/>
                <a:cs typeface="Times New Roman" panose="02020603050405020304" pitchFamily="18" charset="0"/>
              </a:rPr>
              <a:t>Systematic Records</a:t>
            </a:r>
            <a:endParaRPr lang="en-US">
              <a:latin typeface="Times New Roman" panose="02020603050405020304" pitchFamily="18" charset="0"/>
              <a:cs typeface="Times New Roman" panose="02020603050405020304" pitchFamily="18" charset="0"/>
            </a:endParaRPr>
          </a:p>
        </p:txBody>
      </p:sp>
      <p:sp>
        <p:nvSpPr>
          <p:cNvPr id="33" name="Text 25"/>
          <p:cNvSpPr/>
          <p:nvPr/>
        </p:nvSpPr>
        <p:spPr>
          <a:xfrm>
            <a:off x="7558921" y="6997065"/>
            <a:ext cx="6218753" cy="507444"/>
          </a:xfrm>
          <a:prstGeom prst="rect">
            <a:avLst/>
          </a:prstGeom>
          <a:noFill/>
          <a:ln/>
        </p:spPr>
        <p:txBody>
          <a:bodyPr wrap="square" lIns="0" tIns="0" rIns="0" bIns="0" rtlCol="0" anchor="t"/>
          <a:lstStyle/>
          <a:p>
            <a:pPr marL="0" indent="0" algn="l">
              <a:lnSpc>
                <a:spcPts val="1950"/>
              </a:lnSpc>
              <a:buNone/>
            </a:pPr>
            <a:r>
              <a:rPr lang="en-US" sz="1300">
                <a:solidFill>
                  <a:srgbClr val="2B4150"/>
                </a:solidFill>
                <a:latin typeface="Source Sans 3" pitchFamily="34" charset="0"/>
                <a:ea typeface="Source Sans 3" pitchFamily="34" charset="-122"/>
                <a:cs typeface="Source Sans 3" pitchFamily="34" charset="-120"/>
              </a:rPr>
              <a:t>Maintain organized, searchable attendance records with date and time stamps for easy reporting and analysis</a:t>
            </a:r>
            <a:endParaRPr lang="en-US" sz="13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1690568" y="428744"/>
            <a:ext cx="3566279" cy="445651"/>
          </a:xfrm>
          <a:prstGeom prst="rect">
            <a:avLst/>
          </a:prstGeom>
          <a:noFill/>
          <a:ln/>
        </p:spPr>
        <p:txBody>
          <a:bodyPr wrap="none" lIns="0" tIns="0" rIns="0" bIns="0" rtlCol="0" anchor="t"/>
          <a:lstStyle/>
          <a:p>
            <a:pPr marL="0" indent="0" algn="l">
              <a:lnSpc>
                <a:spcPts val="3500"/>
              </a:lnSpc>
              <a:buNone/>
            </a:pPr>
            <a:r>
              <a:rPr lang="en-US" sz="4000">
                <a:solidFill>
                  <a:srgbClr val="124E73"/>
                </a:solidFill>
                <a:latin typeface="Times New Roman" panose="02020603050405020304" pitchFamily="18" charset="0"/>
                <a:ea typeface="MuseoModerno Medium" pitchFamily="34" charset="-122"/>
                <a:cs typeface="Times New Roman" panose="02020603050405020304" pitchFamily="18" charset="0"/>
              </a:rPr>
              <a:t>Technology Stack</a:t>
            </a:r>
            <a:endParaRPr lang="en-US" sz="4000">
              <a:latin typeface="Times New Roman" panose="02020603050405020304" pitchFamily="18" charset="0"/>
              <a:cs typeface="Times New Roman" panose="02020603050405020304" pitchFamily="18" charset="0"/>
            </a:endParaRPr>
          </a:p>
        </p:txBody>
      </p:sp>
      <p:sp>
        <p:nvSpPr>
          <p:cNvPr id="3" name="Text 1"/>
          <p:cNvSpPr/>
          <p:nvPr/>
        </p:nvSpPr>
        <p:spPr>
          <a:xfrm>
            <a:off x="1690568" y="1130618"/>
            <a:ext cx="2139791" cy="267414"/>
          </a:xfrm>
          <a:prstGeom prst="rect">
            <a:avLst/>
          </a:prstGeom>
          <a:noFill/>
          <a:ln/>
        </p:spPr>
        <p:txBody>
          <a:bodyPr wrap="none" lIns="0" tIns="0" rIns="0" bIns="0" rtlCol="0" anchor="t"/>
          <a:lstStyle/>
          <a:p>
            <a:pPr marL="0" indent="0" algn="l">
              <a:lnSpc>
                <a:spcPts val="2100"/>
              </a:lnSpc>
              <a:buNone/>
            </a:pPr>
            <a:r>
              <a:rPr lang="en-US" sz="2400">
                <a:solidFill>
                  <a:srgbClr val="124E73"/>
                </a:solidFill>
                <a:latin typeface="Times New Roman" panose="02020603050405020304" pitchFamily="18" charset="0"/>
                <a:ea typeface="MuseoModerno Medium" pitchFamily="34" charset="-122"/>
                <a:cs typeface="Times New Roman" panose="02020603050405020304" pitchFamily="18" charset="0"/>
              </a:rPr>
              <a:t>Core Technologies</a:t>
            </a:r>
            <a:endParaRPr lang="en-US" sz="2400">
              <a:latin typeface="Times New Roman" panose="02020603050405020304" pitchFamily="18" charset="0"/>
              <a:cs typeface="Times New Roman" panose="02020603050405020304" pitchFamily="18" charset="0"/>
            </a:endParaRPr>
          </a:p>
        </p:txBody>
      </p:sp>
      <p:sp>
        <p:nvSpPr>
          <p:cNvPr id="4" name="Text 2"/>
          <p:cNvSpPr/>
          <p:nvPr/>
        </p:nvSpPr>
        <p:spPr>
          <a:xfrm>
            <a:off x="1690568" y="1500545"/>
            <a:ext cx="5450562" cy="588288"/>
          </a:xfrm>
          <a:prstGeom prst="rect">
            <a:avLst/>
          </a:prstGeom>
          <a:noFill/>
          <a:ln/>
        </p:spPr>
        <p:txBody>
          <a:bodyPr wrap="square" lIns="0" tIns="0" rIns="0" bIns="0" rtlCol="0" anchor="t"/>
          <a:lstStyle/>
          <a:p>
            <a:pPr marL="0" indent="0" algn="l">
              <a:lnSpc>
                <a:spcPts val="1500"/>
              </a:lnSpc>
              <a:buNone/>
            </a:pPr>
            <a:r>
              <a:rPr lang="en-US" sz="1100">
                <a:solidFill>
                  <a:srgbClr val="2B4150"/>
                </a:solidFill>
                <a:latin typeface="Source Sans 3" pitchFamily="34" charset="0"/>
                <a:ea typeface="Source Sans 3" pitchFamily="34" charset="-122"/>
                <a:cs typeface="Source Sans 3" pitchFamily="34" charset="-120"/>
              </a:rPr>
              <a:t>The system is built on Python, a versatile and powerful programming language perfect for machine learning applications. Python's extensive library ecosystem and clean syntax made it the ideal choice for rapid development and prototyping.</a:t>
            </a:r>
            <a:endParaRPr lang="en-US" sz="1100"/>
          </a:p>
        </p:txBody>
      </p:sp>
      <p:sp>
        <p:nvSpPr>
          <p:cNvPr id="5" name="Text 3"/>
          <p:cNvSpPr/>
          <p:nvPr/>
        </p:nvSpPr>
        <p:spPr>
          <a:xfrm>
            <a:off x="7496651" y="1130618"/>
            <a:ext cx="3106936" cy="267414"/>
          </a:xfrm>
          <a:prstGeom prst="rect">
            <a:avLst/>
          </a:prstGeom>
          <a:noFill/>
          <a:ln/>
        </p:spPr>
        <p:txBody>
          <a:bodyPr wrap="none" lIns="0" tIns="0" rIns="0" bIns="0" rtlCol="0" anchor="t"/>
          <a:lstStyle/>
          <a:p>
            <a:pPr marL="0" indent="0" algn="l">
              <a:lnSpc>
                <a:spcPts val="2100"/>
              </a:lnSpc>
              <a:buNone/>
            </a:pPr>
            <a:r>
              <a:rPr lang="en-US" sz="2400">
                <a:solidFill>
                  <a:srgbClr val="124E73"/>
                </a:solidFill>
                <a:latin typeface="Times New Roman" panose="02020603050405020304" pitchFamily="18" charset="0"/>
                <a:ea typeface="MuseoModerno Medium" pitchFamily="34" charset="-122"/>
                <a:cs typeface="Times New Roman" panose="02020603050405020304" pitchFamily="18" charset="0"/>
              </a:rPr>
              <a:t>Machine Learning Framework</a:t>
            </a:r>
            <a:endParaRPr lang="en-US" sz="2400">
              <a:latin typeface="Times New Roman" panose="02020603050405020304" pitchFamily="18" charset="0"/>
              <a:cs typeface="Times New Roman" panose="02020603050405020304" pitchFamily="18" charset="0"/>
            </a:endParaRPr>
          </a:p>
        </p:txBody>
      </p:sp>
      <p:sp>
        <p:nvSpPr>
          <p:cNvPr id="6" name="Text 4"/>
          <p:cNvSpPr/>
          <p:nvPr/>
        </p:nvSpPr>
        <p:spPr>
          <a:xfrm>
            <a:off x="7496651" y="1500545"/>
            <a:ext cx="5450562" cy="784384"/>
          </a:xfrm>
          <a:prstGeom prst="rect">
            <a:avLst/>
          </a:prstGeom>
          <a:noFill/>
          <a:ln/>
        </p:spPr>
        <p:txBody>
          <a:bodyPr wrap="square" lIns="0" tIns="0" rIns="0" bIns="0" rtlCol="0" anchor="t"/>
          <a:lstStyle/>
          <a:p>
            <a:pPr marL="0" indent="0" algn="l">
              <a:lnSpc>
                <a:spcPts val="1500"/>
              </a:lnSpc>
              <a:buNone/>
            </a:pPr>
            <a:r>
              <a:rPr lang="en-US" sz="1100">
                <a:solidFill>
                  <a:srgbClr val="2B4150"/>
                </a:solidFill>
                <a:latin typeface="Source Sans 3" pitchFamily="34" charset="0"/>
                <a:ea typeface="Source Sans 3" pitchFamily="34" charset="-122"/>
                <a:cs typeface="Source Sans 3" pitchFamily="34" charset="-120"/>
              </a:rPr>
              <a:t>OpenCV provides robust face detection and recognition capabilities, while NumPy handles the complex mathematical operations required for image processing. The LBPH (Local Binary Pattern Histogram) algorithm serves as our machine learning model, offering excellent balance between accuracy and processing speed.</a:t>
            </a:r>
            <a:endParaRPr lang="en-US" sz="1100"/>
          </a:p>
        </p:txBody>
      </p:sp>
      <p:sp>
        <p:nvSpPr>
          <p:cNvPr id="7" name="Shape 5"/>
          <p:cNvSpPr/>
          <p:nvPr/>
        </p:nvSpPr>
        <p:spPr>
          <a:xfrm>
            <a:off x="1690568" y="2492454"/>
            <a:ext cx="5573316" cy="1188363"/>
          </a:xfrm>
          <a:prstGeom prst="roundRect">
            <a:avLst>
              <a:gd name="adj" fmla="val 6156"/>
            </a:avLst>
          </a:prstGeom>
          <a:solidFill>
            <a:srgbClr val="FFFCF5"/>
          </a:solidFill>
          <a:ln w="15240">
            <a:solidFill>
              <a:srgbClr val="D9D4C9"/>
            </a:solidFill>
            <a:prstDash val="solid"/>
          </a:ln>
        </p:spPr>
        <p:txBody>
          <a:bodyPr/>
          <a:lstStyle/>
          <a:p>
            <a:endParaRPr lang="en-IN"/>
          </a:p>
        </p:txBody>
      </p:sp>
      <p:sp>
        <p:nvSpPr>
          <p:cNvPr id="8" name="Shape 6"/>
          <p:cNvSpPr/>
          <p:nvPr/>
        </p:nvSpPr>
        <p:spPr>
          <a:xfrm>
            <a:off x="1675328" y="2492454"/>
            <a:ext cx="60960" cy="1188363"/>
          </a:xfrm>
          <a:prstGeom prst="roundRect">
            <a:avLst>
              <a:gd name="adj" fmla="val 35102"/>
            </a:avLst>
          </a:prstGeom>
          <a:solidFill>
            <a:srgbClr val="325F7B"/>
          </a:solidFill>
          <a:ln/>
        </p:spPr>
      </p:sp>
      <p:sp>
        <p:nvSpPr>
          <p:cNvPr id="9" name="Text 7"/>
          <p:cNvSpPr/>
          <p:nvPr/>
        </p:nvSpPr>
        <p:spPr>
          <a:xfrm>
            <a:off x="1894165" y="2650331"/>
            <a:ext cx="1783080" cy="222885"/>
          </a:xfrm>
          <a:prstGeom prst="rect">
            <a:avLst/>
          </a:prstGeom>
          <a:noFill/>
          <a:ln/>
        </p:spPr>
        <p:txBody>
          <a:bodyPr wrap="none" lIns="0" tIns="0" rIns="0" bIns="0" rtlCol="0" anchor="t"/>
          <a:lstStyle/>
          <a:p>
            <a:pPr marL="0" indent="0" algn="l">
              <a:lnSpc>
                <a:spcPts val="1750"/>
              </a:lnSpc>
              <a:buNone/>
            </a:pPr>
            <a:r>
              <a:rPr lang="en-US" sz="1600">
                <a:solidFill>
                  <a:srgbClr val="2B4150"/>
                </a:solidFill>
                <a:latin typeface="Times New Roman" panose="02020603050405020304" pitchFamily="18" charset="0"/>
                <a:ea typeface="MuseoModerno Medium" pitchFamily="34" charset="-122"/>
                <a:cs typeface="Times New Roman" panose="02020603050405020304" pitchFamily="18" charset="0"/>
              </a:rPr>
              <a:t>OpenCV</a:t>
            </a:r>
            <a:endParaRPr lang="en-US" sz="1600">
              <a:latin typeface="Times New Roman" panose="02020603050405020304" pitchFamily="18" charset="0"/>
              <a:cs typeface="Times New Roman" panose="02020603050405020304" pitchFamily="18" charset="0"/>
            </a:endParaRPr>
          </a:p>
        </p:txBody>
      </p:sp>
      <p:sp>
        <p:nvSpPr>
          <p:cNvPr id="10" name="Text 8"/>
          <p:cNvSpPr/>
          <p:nvPr/>
        </p:nvSpPr>
        <p:spPr>
          <a:xfrm>
            <a:off x="1894165" y="2934653"/>
            <a:ext cx="5211842" cy="588288"/>
          </a:xfrm>
          <a:prstGeom prst="rect">
            <a:avLst/>
          </a:prstGeom>
          <a:noFill/>
          <a:ln/>
        </p:spPr>
        <p:txBody>
          <a:bodyPr wrap="square" lIns="0" tIns="0" rIns="0" bIns="0" rtlCol="0" anchor="t"/>
          <a:lstStyle/>
          <a:p>
            <a:pPr marL="0" indent="0" algn="l">
              <a:lnSpc>
                <a:spcPts val="1500"/>
              </a:lnSpc>
              <a:buNone/>
            </a:pPr>
            <a:r>
              <a:rPr lang="en-US" sz="1100">
                <a:solidFill>
                  <a:srgbClr val="2B4150"/>
                </a:solidFill>
                <a:latin typeface="Source Sans 3" pitchFamily="34" charset="0"/>
                <a:ea typeface="Source Sans 3" pitchFamily="34" charset="-122"/>
                <a:cs typeface="Source Sans 3" pitchFamily="34" charset="-120"/>
              </a:rPr>
              <a:t>Primary library for face detection and recognition. Implements Haar Cascade classifiers for real-time face detection and provides the framework for our LBPH-based recognition system</a:t>
            </a:r>
            <a:endParaRPr lang="en-US" sz="1100"/>
          </a:p>
        </p:txBody>
      </p:sp>
      <p:sp>
        <p:nvSpPr>
          <p:cNvPr id="11" name="Shape 9"/>
          <p:cNvSpPr/>
          <p:nvPr/>
        </p:nvSpPr>
        <p:spPr>
          <a:xfrm>
            <a:off x="7366397" y="2492454"/>
            <a:ext cx="5573316" cy="1188363"/>
          </a:xfrm>
          <a:prstGeom prst="roundRect">
            <a:avLst>
              <a:gd name="adj" fmla="val 6156"/>
            </a:avLst>
          </a:prstGeom>
          <a:solidFill>
            <a:srgbClr val="FFFCF5"/>
          </a:solidFill>
          <a:ln w="15240">
            <a:solidFill>
              <a:srgbClr val="D9D4C9"/>
            </a:solidFill>
            <a:prstDash val="solid"/>
          </a:ln>
        </p:spPr>
      </p:sp>
      <p:sp>
        <p:nvSpPr>
          <p:cNvPr id="12" name="Shape 10"/>
          <p:cNvSpPr/>
          <p:nvPr/>
        </p:nvSpPr>
        <p:spPr>
          <a:xfrm>
            <a:off x="7351157" y="2492454"/>
            <a:ext cx="60960" cy="1188363"/>
          </a:xfrm>
          <a:prstGeom prst="roundRect">
            <a:avLst>
              <a:gd name="adj" fmla="val 35102"/>
            </a:avLst>
          </a:prstGeom>
          <a:solidFill>
            <a:srgbClr val="325F7B"/>
          </a:solidFill>
          <a:ln/>
        </p:spPr>
      </p:sp>
      <p:sp>
        <p:nvSpPr>
          <p:cNvPr id="13" name="Text 11"/>
          <p:cNvSpPr/>
          <p:nvPr/>
        </p:nvSpPr>
        <p:spPr>
          <a:xfrm>
            <a:off x="7569994" y="2650331"/>
            <a:ext cx="1783080" cy="222885"/>
          </a:xfrm>
          <a:prstGeom prst="rect">
            <a:avLst/>
          </a:prstGeom>
          <a:noFill/>
          <a:ln/>
        </p:spPr>
        <p:txBody>
          <a:bodyPr wrap="none" lIns="0" tIns="0" rIns="0" bIns="0" rtlCol="0" anchor="t"/>
          <a:lstStyle/>
          <a:p>
            <a:pPr marL="0" indent="0" algn="l">
              <a:lnSpc>
                <a:spcPts val="1750"/>
              </a:lnSpc>
              <a:buNone/>
            </a:pPr>
            <a:r>
              <a:rPr lang="en-US" sz="1600">
                <a:solidFill>
                  <a:srgbClr val="2B4150"/>
                </a:solidFill>
                <a:latin typeface="Times New Roman" panose="02020603050405020304" pitchFamily="18" charset="0"/>
                <a:ea typeface="MuseoModerno Medium" pitchFamily="34" charset="-122"/>
                <a:cs typeface="Times New Roman" panose="02020603050405020304" pitchFamily="18" charset="0"/>
              </a:rPr>
              <a:t>NumPy</a:t>
            </a:r>
            <a:endParaRPr lang="en-US" sz="1600">
              <a:latin typeface="Times New Roman" panose="02020603050405020304" pitchFamily="18" charset="0"/>
              <a:cs typeface="Times New Roman" panose="02020603050405020304" pitchFamily="18" charset="0"/>
            </a:endParaRPr>
          </a:p>
        </p:txBody>
      </p:sp>
      <p:sp>
        <p:nvSpPr>
          <p:cNvPr id="14" name="Text 12"/>
          <p:cNvSpPr/>
          <p:nvPr/>
        </p:nvSpPr>
        <p:spPr>
          <a:xfrm>
            <a:off x="7569994" y="2934653"/>
            <a:ext cx="5211842" cy="588288"/>
          </a:xfrm>
          <a:prstGeom prst="rect">
            <a:avLst/>
          </a:prstGeom>
          <a:noFill/>
          <a:ln/>
        </p:spPr>
        <p:txBody>
          <a:bodyPr wrap="square" lIns="0" tIns="0" rIns="0" bIns="0" rtlCol="0" anchor="t"/>
          <a:lstStyle/>
          <a:p>
            <a:pPr marL="0" indent="0" algn="l">
              <a:lnSpc>
                <a:spcPts val="1500"/>
              </a:lnSpc>
              <a:buNone/>
            </a:pPr>
            <a:r>
              <a:rPr lang="en-US" sz="1100">
                <a:solidFill>
                  <a:srgbClr val="2B4150"/>
                </a:solidFill>
                <a:latin typeface="Source Sans 3" pitchFamily="34" charset="0"/>
                <a:ea typeface="Source Sans 3" pitchFamily="34" charset="-122"/>
                <a:cs typeface="Source Sans 3" pitchFamily="34" charset="-120"/>
              </a:rPr>
              <a:t>Handles all array and matrix operations required for image processing. Converts images to grayscale, manages pixel data, and performs mathematical operations on facial features</a:t>
            </a:r>
            <a:endParaRPr lang="en-US" sz="1100"/>
          </a:p>
        </p:txBody>
      </p:sp>
      <p:sp>
        <p:nvSpPr>
          <p:cNvPr id="15" name="Shape 13"/>
          <p:cNvSpPr/>
          <p:nvPr/>
        </p:nvSpPr>
        <p:spPr>
          <a:xfrm>
            <a:off x="1690568" y="3783330"/>
            <a:ext cx="5573316" cy="992267"/>
          </a:xfrm>
          <a:prstGeom prst="roundRect">
            <a:avLst>
              <a:gd name="adj" fmla="val 7372"/>
            </a:avLst>
          </a:prstGeom>
          <a:solidFill>
            <a:srgbClr val="FFFCF5"/>
          </a:solidFill>
          <a:ln w="15240">
            <a:solidFill>
              <a:srgbClr val="D9D4C9"/>
            </a:solidFill>
            <a:prstDash val="solid"/>
          </a:ln>
        </p:spPr>
      </p:sp>
      <p:sp>
        <p:nvSpPr>
          <p:cNvPr id="16" name="Shape 14"/>
          <p:cNvSpPr/>
          <p:nvPr/>
        </p:nvSpPr>
        <p:spPr>
          <a:xfrm>
            <a:off x="1675328" y="3783330"/>
            <a:ext cx="60960" cy="992267"/>
          </a:xfrm>
          <a:prstGeom prst="roundRect">
            <a:avLst>
              <a:gd name="adj" fmla="val 35102"/>
            </a:avLst>
          </a:prstGeom>
          <a:solidFill>
            <a:srgbClr val="325F7B"/>
          </a:solidFill>
          <a:ln/>
        </p:spPr>
      </p:sp>
      <p:sp>
        <p:nvSpPr>
          <p:cNvPr id="17" name="Text 15"/>
          <p:cNvSpPr/>
          <p:nvPr/>
        </p:nvSpPr>
        <p:spPr>
          <a:xfrm>
            <a:off x="1894165" y="3941207"/>
            <a:ext cx="1783080" cy="222885"/>
          </a:xfrm>
          <a:prstGeom prst="rect">
            <a:avLst/>
          </a:prstGeom>
          <a:noFill/>
          <a:ln/>
        </p:spPr>
        <p:txBody>
          <a:bodyPr wrap="none" lIns="0" tIns="0" rIns="0" bIns="0" rtlCol="0" anchor="t"/>
          <a:lstStyle/>
          <a:p>
            <a:pPr marL="0" indent="0" algn="l">
              <a:lnSpc>
                <a:spcPts val="1750"/>
              </a:lnSpc>
              <a:buNone/>
            </a:pPr>
            <a:r>
              <a:rPr lang="en-US" sz="1600">
                <a:solidFill>
                  <a:srgbClr val="2B4150"/>
                </a:solidFill>
                <a:latin typeface="Times New Roman" panose="02020603050405020304" pitchFamily="18" charset="0"/>
                <a:ea typeface="MuseoModerno Medium" pitchFamily="34" charset="-122"/>
                <a:cs typeface="Times New Roman" panose="02020603050405020304" pitchFamily="18" charset="0"/>
              </a:rPr>
              <a:t>Tkinter</a:t>
            </a:r>
            <a:endParaRPr lang="en-US" sz="1600">
              <a:latin typeface="Times New Roman" panose="02020603050405020304" pitchFamily="18" charset="0"/>
              <a:cs typeface="Times New Roman" panose="02020603050405020304" pitchFamily="18" charset="0"/>
            </a:endParaRPr>
          </a:p>
        </p:txBody>
      </p:sp>
      <p:sp>
        <p:nvSpPr>
          <p:cNvPr id="18" name="Text 16"/>
          <p:cNvSpPr/>
          <p:nvPr/>
        </p:nvSpPr>
        <p:spPr>
          <a:xfrm>
            <a:off x="1894165" y="4225528"/>
            <a:ext cx="5211842" cy="392192"/>
          </a:xfrm>
          <a:prstGeom prst="rect">
            <a:avLst/>
          </a:prstGeom>
          <a:noFill/>
          <a:ln/>
        </p:spPr>
        <p:txBody>
          <a:bodyPr wrap="square" lIns="0" tIns="0" rIns="0" bIns="0" rtlCol="0" anchor="t"/>
          <a:lstStyle/>
          <a:p>
            <a:pPr marL="0" indent="0" algn="l">
              <a:lnSpc>
                <a:spcPts val="1500"/>
              </a:lnSpc>
              <a:buNone/>
            </a:pPr>
            <a:r>
              <a:rPr lang="en-US" sz="1100">
                <a:solidFill>
                  <a:srgbClr val="2B4150"/>
                </a:solidFill>
                <a:latin typeface="Source Sans 3" pitchFamily="34" charset="0"/>
                <a:ea typeface="Source Sans 3" pitchFamily="34" charset="-122"/>
                <a:cs typeface="Source Sans 3" pitchFamily="34" charset="-120"/>
              </a:rPr>
              <a:t>Creates the graphical user interface including the main dashboard, registration forms, and attendance monitoring screens. Provides a clean, professional interface</a:t>
            </a:r>
            <a:endParaRPr lang="en-US" sz="1100"/>
          </a:p>
        </p:txBody>
      </p:sp>
      <p:sp>
        <p:nvSpPr>
          <p:cNvPr id="19" name="Shape 17"/>
          <p:cNvSpPr/>
          <p:nvPr/>
        </p:nvSpPr>
        <p:spPr>
          <a:xfrm>
            <a:off x="7366397" y="3783330"/>
            <a:ext cx="5573316" cy="992267"/>
          </a:xfrm>
          <a:prstGeom prst="roundRect">
            <a:avLst>
              <a:gd name="adj" fmla="val 7372"/>
            </a:avLst>
          </a:prstGeom>
          <a:solidFill>
            <a:srgbClr val="FFFCF5"/>
          </a:solidFill>
          <a:ln w="15240">
            <a:solidFill>
              <a:srgbClr val="D9D4C9"/>
            </a:solidFill>
            <a:prstDash val="solid"/>
          </a:ln>
        </p:spPr>
      </p:sp>
      <p:sp>
        <p:nvSpPr>
          <p:cNvPr id="20" name="Shape 18"/>
          <p:cNvSpPr/>
          <p:nvPr/>
        </p:nvSpPr>
        <p:spPr>
          <a:xfrm>
            <a:off x="7351157" y="3783330"/>
            <a:ext cx="60960" cy="992267"/>
          </a:xfrm>
          <a:prstGeom prst="roundRect">
            <a:avLst>
              <a:gd name="adj" fmla="val 35102"/>
            </a:avLst>
          </a:prstGeom>
          <a:solidFill>
            <a:srgbClr val="325F7B"/>
          </a:solidFill>
          <a:ln/>
        </p:spPr>
      </p:sp>
      <p:sp>
        <p:nvSpPr>
          <p:cNvPr id="21" name="Text 19"/>
          <p:cNvSpPr/>
          <p:nvPr/>
        </p:nvSpPr>
        <p:spPr>
          <a:xfrm>
            <a:off x="7569994" y="3941207"/>
            <a:ext cx="1783080" cy="222885"/>
          </a:xfrm>
          <a:prstGeom prst="rect">
            <a:avLst/>
          </a:prstGeom>
          <a:noFill/>
          <a:ln/>
        </p:spPr>
        <p:txBody>
          <a:bodyPr wrap="none" lIns="0" tIns="0" rIns="0" bIns="0" rtlCol="0" anchor="t"/>
          <a:lstStyle/>
          <a:p>
            <a:pPr marL="0" indent="0" algn="l">
              <a:lnSpc>
                <a:spcPts val="1750"/>
              </a:lnSpc>
              <a:buNone/>
            </a:pPr>
            <a:r>
              <a:rPr lang="en-US" sz="1600">
                <a:solidFill>
                  <a:srgbClr val="2B4150"/>
                </a:solidFill>
                <a:latin typeface="Times New Roman" panose="02020603050405020304" pitchFamily="18" charset="0"/>
                <a:ea typeface="MuseoModerno Medium" pitchFamily="34" charset="-122"/>
                <a:cs typeface="Times New Roman" panose="02020603050405020304" pitchFamily="18" charset="0"/>
              </a:rPr>
              <a:t>PIL (Pillow</a:t>
            </a:r>
            <a:r>
              <a:rPr lang="en-US" sz="1400">
                <a:solidFill>
                  <a:srgbClr val="2B4150"/>
                </a:solidFill>
                <a:latin typeface="MuseoModerno Medium" pitchFamily="34" charset="0"/>
                <a:ea typeface="MuseoModerno Medium" pitchFamily="34" charset="-122"/>
                <a:cs typeface="MuseoModerno Medium" pitchFamily="34" charset="-120"/>
              </a:rPr>
              <a:t>)</a:t>
            </a:r>
            <a:endParaRPr lang="en-US" sz="1400"/>
          </a:p>
        </p:txBody>
      </p:sp>
      <p:sp>
        <p:nvSpPr>
          <p:cNvPr id="22" name="Text 20"/>
          <p:cNvSpPr/>
          <p:nvPr/>
        </p:nvSpPr>
        <p:spPr>
          <a:xfrm>
            <a:off x="7569994" y="4225528"/>
            <a:ext cx="5211842" cy="392192"/>
          </a:xfrm>
          <a:prstGeom prst="rect">
            <a:avLst/>
          </a:prstGeom>
          <a:noFill/>
          <a:ln/>
        </p:spPr>
        <p:txBody>
          <a:bodyPr wrap="square" lIns="0" tIns="0" rIns="0" bIns="0" rtlCol="0" anchor="t"/>
          <a:lstStyle/>
          <a:p>
            <a:pPr marL="0" indent="0" algn="l">
              <a:lnSpc>
                <a:spcPts val="1500"/>
              </a:lnSpc>
              <a:buNone/>
            </a:pPr>
            <a:r>
              <a:rPr lang="en-US" sz="1100">
                <a:solidFill>
                  <a:srgbClr val="2B4150"/>
                </a:solidFill>
                <a:latin typeface="Source Sans 3" pitchFamily="34" charset="0"/>
                <a:ea typeface="Source Sans 3" pitchFamily="34" charset="-122"/>
                <a:cs typeface="Source Sans 3" pitchFamily="34" charset="-120"/>
              </a:rPr>
              <a:t>Manages image handling operations including capturing, storing, and retrieving facial images from the dataset folder</a:t>
            </a:r>
            <a:endParaRPr lang="en-US" sz="1100"/>
          </a:p>
        </p:txBody>
      </p:sp>
      <p:sp>
        <p:nvSpPr>
          <p:cNvPr id="23" name="Shape 21"/>
          <p:cNvSpPr/>
          <p:nvPr/>
        </p:nvSpPr>
        <p:spPr>
          <a:xfrm>
            <a:off x="1690568" y="4878110"/>
            <a:ext cx="5573316" cy="992267"/>
          </a:xfrm>
          <a:prstGeom prst="roundRect">
            <a:avLst>
              <a:gd name="adj" fmla="val 7372"/>
            </a:avLst>
          </a:prstGeom>
          <a:solidFill>
            <a:srgbClr val="FFFCF5"/>
          </a:solidFill>
          <a:ln w="15240">
            <a:solidFill>
              <a:srgbClr val="D9D4C9"/>
            </a:solidFill>
            <a:prstDash val="solid"/>
          </a:ln>
        </p:spPr>
      </p:sp>
      <p:sp>
        <p:nvSpPr>
          <p:cNvPr id="24" name="Shape 22"/>
          <p:cNvSpPr/>
          <p:nvPr/>
        </p:nvSpPr>
        <p:spPr>
          <a:xfrm>
            <a:off x="1675328" y="4878110"/>
            <a:ext cx="60960" cy="992267"/>
          </a:xfrm>
          <a:prstGeom prst="roundRect">
            <a:avLst>
              <a:gd name="adj" fmla="val 35102"/>
            </a:avLst>
          </a:prstGeom>
          <a:solidFill>
            <a:srgbClr val="325F7B"/>
          </a:solidFill>
          <a:ln/>
        </p:spPr>
      </p:sp>
      <p:sp>
        <p:nvSpPr>
          <p:cNvPr id="25" name="Text 23"/>
          <p:cNvSpPr/>
          <p:nvPr/>
        </p:nvSpPr>
        <p:spPr>
          <a:xfrm>
            <a:off x="1894165" y="5035987"/>
            <a:ext cx="1783080" cy="222885"/>
          </a:xfrm>
          <a:prstGeom prst="rect">
            <a:avLst/>
          </a:prstGeom>
          <a:noFill/>
          <a:ln/>
        </p:spPr>
        <p:txBody>
          <a:bodyPr wrap="none" lIns="0" tIns="0" rIns="0" bIns="0" rtlCol="0" anchor="t"/>
          <a:lstStyle/>
          <a:p>
            <a:pPr marL="0" indent="0" algn="l">
              <a:lnSpc>
                <a:spcPts val="1750"/>
              </a:lnSpc>
              <a:buNone/>
            </a:pPr>
            <a:r>
              <a:rPr lang="en-US" sz="1600">
                <a:solidFill>
                  <a:srgbClr val="2B4150"/>
                </a:solidFill>
                <a:latin typeface="Times New Roman" panose="02020603050405020304" pitchFamily="18" charset="0"/>
                <a:ea typeface="MuseoModerno Medium" pitchFamily="34" charset="-122"/>
                <a:cs typeface="Times New Roman" panose="02020603050405020304" pitchFamily="18" charset="0"/>
              </a:rPr>
              <a:t>MySQL Connector</a:t>
            </a:r>
            <a:endParaRPr lang="en-US" sz="1600">
              <a:latin typeface="Times New Roman" panose="02020603050405020304" pitchFamily="18" charset="0"/>
              <a:cs typeface="Times New Roman" panose="02020603050405020304" pitchFamily="18" charset="0"/>
            </a:endParaRPr>
          </a:p>
        </p:txBody>
      </p:sp>
      <p:sp>
        <p:nvSpPr>
          <p:cNvPr id="26" name="Text 24"/>
          <p:cNvSpPr/>
          <p:nvPr/>
        </p:nvSpPr>
        <p:spPr>
          <a:xfrm>
            <a:off x="1894165" y="5320308"/>
            <a:ext cx="5211842" cy="392192"/>
          </a:xfrm>
          <a:prstGeom prst="rect">
            <a:avLst/>
          </a:prstGeom>
          <a:noFill/>
          <a:ln/>
        </p:spPr>
        <p:txBody>
          <a:bodyPr wrap="square" lIns="0" tIns="0" rIns="0" bIns="0" rtlCol="0" anchor="t"/>
          <a:lstStyle/>
          <a:p>
            <a:pPr marL="0" indent="0" algn="l">
              <a:lnSpc>
                <a:spcPts val="1500"/>
              </a:lnSpc>
              <a:buNone/>
            </a:pPr>
            <a:r>
              <a:rPr lang="en-US" sz="1100">
                <a:solidFill>
                  <a:srgbClr val="2B4150"/>
                </a:solidFill>
                <a:latin typeface="Source Sans 3" pitchFamily="34" charset="0"/>
                <a:ea typeface="Source Sans 3" pitchFamily="34" charset="-122"/>
                <a:cs typeface="Source Sans 3" pitchFamily="34" charset="-120"/>
              </a:rPr>
              <a:t>Establishes connectivity with the MySQL database for storing student information, login credentials, and user authentication data</a:t>
            </a:r>
            <a:endParaRPr lang="en-US" sz="1100"/>
          </a:p>
        </p:txBody>
      </p:sp>
      <p:sp>
        <p:nvSpPr>
          <p:cNvPr id="27" name="Shape 25"/>
          <p:cNvSpPr/>
          <p:nvPr/>
        </p:nvSpPr>
        <p:spPr>
          <a:xfrm>
            <a:off x="7366397" y="4878110"/>
            <a:ext cx="5573316" cy="992267"/>
          </a:xfrm>
          <a:prstGeom prst="roundRect">
            <a:avLst>
              <a:gd name="adj" fmla="val 7372"/>
            </a:avLst>
          </a:prstGeom>
          <a:solidFill>
            <a:srgbClr val="FFFCF5"/>
          </a:solidFill>
          <a:ln w="15240">
            <a:solidFill>
              <a:srgbClr val="D9D4C9"/>
            </a:solidFill>
            <a:prstDash val="solid"/>
          </a:ln>
        </p:spPr>
      </p:sp>
      <p:sp>
        <p:nvSpPr>
          <p:cNvPr id="28" name="Shape 26"/>
          <p:cNvSpPr/>
          <p:nvPr/>
        </p:nvSpPr>
        <p:spPr>
          <a:xfrm>
            <a:off x="7351157" y="4878110"/>
            <a:ext cx="60960" cy="992267"/>
          </a:xfrm>
          <a:prstGeom prst="roundRect">
            <a:avLst>
              <a:gd name="adj" fmla="val 35102"/>
            </a:avLst>
          </a:prstGeom>
          <a:solidFill>
            <a:srgbClr val="325F7B"/>
          </a:solidFill>
          <a:ln/>
        </p:spPr>
      </p:sp>
      <p:sp>
        <p:nvSpPr>
          <p:cNvPr id="29" name="Text 27"/>
          <p:cNvSpPr/>
          <p:nvPr/>
        </p:nvSpPr>
        <p:spPr>
          <a:xfrm>
            <a:off x="7569994" y="5035987"/>
            <a:ext cx="1783080" cy="222885"/>
          </a:xfrm>
          <a:prstGeom prst="rect">
            <a:avLst/>
          </a:prstGeom>
          <a:noFill/>
          <a:ln/>
        </p:spPr>
        <p:txBody>
          <a:bodyPr wrap="none" lIns="0" tIns="0" rIns="0" bIns="0" rtlCol="0" anchor="t"/>
          <a:lstStyle/>
          <a:p>
            <a:pPr marL="0" indent="0" algn="l">
              <a:lnSpc>
                <a:spcPts val="1750"/>
              </a:lnSpc>
              <a:buNone/>
            </a:pPr>
            <a:r>
              <a:rPr lang="en-US" sz="1600">
                <a:solidFill>
                  <a:srgbClr val="2B4150"/>
                </a:solidFill>
                <a:latin typeface="Times New Roman" panose="02020603050405020304" pitchFamily="18" charset="0"/>
                <a:ea typeface="MuseoModerno Medium" pitchFamily="34" charset="-122"/>
                <a:cs typeface="Times New Roman" panose="02020603050405020304" pitchFamily="18" charset="0"/>
              </a:rPr>
              <a:t>Passlib (bcrypt</a:t>
            </a:r>
            <a:r>
              <a:rPr lang="en-US" sz="1400">
                <a:solidFill>
                  <a:srgbClr val="2B4150"/>
                </a:solidFill>
                <a:latin typeface="MuseoModerno Medium" pitchFamily="34" charset="0"/>
                <a:ea typeface="MuseoModerno Medium" pitchFamily="34" charset="-122"/>
                <a:cs typeface="MuseoModerno Medium" pitchFamily="34" charset="-120"/>
              </a:rPr>
              <a:t>)</a:t>
            </a:r>
            <a:endParaRPr lang="en-US" sz="1400"/>
          </a:p>
        </p:txBody>
      </p:sp>
      <p:sp>
        <p:nvSpPr>
          <p:cNvPr id="30" name="Text 28"/>
          <p:cNvSpPr/>
          <p:nvPr/>
        </p:nvSpPr>
        <p:spPr>
          <a:xfrm>
            <a:off x="7569994" y="5320308"/>
            <a:ext cx="5211842" cy="392192"/>
          </a:xfrm>
          <a:prstGeom prst="rect">
            <a:avLst/>
          </a:prstGeom>
          <a:noFill/>
          <a:ln/>
        </p:spPr>
        <p:txBody>
          <a:bodyPr wrap="square" lIns="0" tIns="0" rIns="0" bIns="0" rtlCol="0" anchor="t"/>
          <a:lstStyle/>
          <a:p>
            <a:pPr marL="0" indent="0" algn="l">
              <a:lnSpc>
                <a:spcPts val="1500"/>
              </a:lnSpc>
              <a:buNone/>
            </a:pPr>
            <a:r>
              <a:rPr lang="en-US" sz="1100">
                <a:solidFill>
                  <a:srgbClr val="2B4150"/>
                </a:solidFill>
                <a:latin typeface="Source Sans 3" pitchFamily="34" charset="0"/>
                <a:ea typeface="Source Sans 3" pitchFamily="34" charset="-122"/>
                <a:cs typeface="Source Sans 3" pitchFamily="34" charset="-120"/>
              </a:rPr>
              <a:t>Implements secure password hashing to protect user credentials and ensure data security through cryptographic standards</a:t>
            </a:r>
            <a:endParaRPr lang="en-US" sz="1100"/>
          </a:p>
        </p:txBody>
      </p:sp>
      <p:sp>
        <p:nvSpPr>
          <p:cNvPr id="31" name="Text 29"/>
          <p:cNvSpPr/>
          <p:nvPr/>
        </p:nvSpPr>
        <p:spPr>
          <a:xfrm>
            <a:off x="1690568" y="6024086"/>
            <a:ext cx="2648783" cy="267414"/>
          </a:xfrm>
          <a:prstGeom prst="rect">
            <a:avLst/>
          </a:prstGeom>
          <a:noFill/>
          <a:ln/>
        </p:spPr>
        <p:txBody>
          <a:bodyPr wrap="none" lIns="0" tIns="0" rIns="0" bIns="0" rtlCol="0" anchor="t"/>
          <a:lstStyle/>
          <a:p>
            <a:pPr marL="0" indent="0" algn="l">
              <a:lnSpc>
                <a:spcPts val="2100"/>
              </a:lnSpc>
              <a:buNone/>
            </a:pPr>
            <a:r>
              <a:rPr lang="en-US" sz="2400">
                <a:solidFill>
                  <a:srgbClr val="124E73"/>
                </a:solidFill>
                <a:latin typeface="Times New Roman" panose="02020603050405020304" pitchFamily="18" charset="0"/>
                <a:ea typeface="MuseoModerno Medium" pitchFamily="34" charset="-122"/>
                <a:cs typeface="Times New Roman" panose="02020603050405020304" pitchFamily="18" charset="0"/>
              </a:rPr>
              <a:t>Data Storage Architecture</a:t>
            </a:r>
            <a:endParaRPr lang="en-US" sz="2400">
              <a:latin typeface="Times New Roman" panose="02020603050405020304" pitchFamily="18" charset="0"/>
              <a:cs typeface="Times New Roman" panose="02020603050405020304" pitchFamily="18" charset="0"/>
            </a:endParaRPr>
          </a:p>
        </p:txBody>
      </p:sp>
      <p:sp>
        <p:nvSpPr>
          <p:cNvPr id="32" name="Text 30"/>
          <p:cNvSpPr/>
          <p:nvPr/>
        </p:nvSpPr>
        <p:spPr>
          <a:xfrm>
            <a:off x="1690568" y="6547723"/>
            <a:ext cx="1783080" cy="222885"/>
          </a:xfrm>
          <a:prstGeom prst="rect">
            <a:avLst/>
          </a:prstGeom>
          <a:noFill/>
          <a:ln/>
        </p:spPr>
        <p:txBody>
          <a:bodyPr wrap="none" lIns="0" tIns="0" rIns="0" bIns="0" rtlCol="0" anchor="t"/>
          <a:lstStyle/>
          <a:p>
            <a:pPr marL="0" indent="0" algn="l">
              <a:lnSpc>
                <a:spcPts val="1750"/>
              </a:lnSpc>
              <a:buNone/>
            </a:pPr>
            <a:r>
              <a:rPr lang="en-US" sz="2000">
                <a:solidFill>
                  <a:srgbClr val="124E73"/>
                </a:solidFill>
                <a:latin typeface="Times New Roman" panose="02020603050405020304" pitchFamily="18" charset="0"/>
                <a:ea typeface="MuseoModerno Medium" pitchFamily="34" charset="-122"/>
                <a:cs typeface="Times New Roman" panose="02020603050405020304" pitchFamily="18" charset="0"/>
              </a:rPr>
              <a:t>MySQL Database</a:t>
            </a:r>
            <a:endParaRPr lang="en-US" sz="2000">
              <a:latin typeface="Times New Roman" panose="02020603050405020304" pitchFamily="18" charset="0"/>
              <a:cs typeface="Times New Roman" panose="02020603050405020304" pitchFamily="18" charset="0"/>
            </a:endParaRPr>
          </a:p>
        </p:txBody>
      </p:sp>
      <p:sp>
        <p:nvSpPr>
          <p:cNvPr id="33" name="Text 31"/>
          <p:cNvSpPr/>
          <p:nvPr/>
        </p:nvSpPr>
        <p:spPr>
          <a:xfrm>
            <a:off x="1690568" y="6873121"/>
            <a:ext cx="5450562" cy="891897"/>
          </a:xfrm>
          <a:prstGeom prst="rect">
            <a:avLst/>
          </a:prstGeom>
          <a:noFill/>
          <a:ln/>
        </p:spPr>
        <p:txBody>
          <a:bodyPr wrap="square" lIns="0" tIns="0" rIns="0" bIns="0" rtlCol="0" anchor="t"/>
          <a:lstStyle/>
          <a:p>
            <a:pPr marL="342900" indent="-342900" algn="l">
              <a:lnSpc>
                <a:spcPts val="1500"/>
              </a:lnSpc>
              <a:buSzPct val="100000"/>
              <a:buChar char="•"/>
            </a:pPr>
            <a:r>
              <a:rPr lang="en-US" sz="1100">
                <a:solidFill>
                  <a:srgbClr val="2B4150"/>
                </a:solidFill>
                <a:latin typeface="Source Sans 3" pitchFamily="34" charset="0"/>
                <a:ea typeface="Source Sans 3" pitchFamily="34" charset="-122"/>
                <a:cs typeface="Source Sans 3" pitchFamily="34" charset="-120"/>
              </a:rPr>
              <a:t>Stores student registration data (names, IDs, enrollment information)</a:t>
            </a:r>
            <a:endParaRPr lang="en-US" sz="1100"/>
          </a:p>
          <a:p>
            <a:pPr marL="342900" indent="-342900" algn="l">
              <a:lnSpc>
                <a:spcPts val="1500"/>
              </a:lnSpc>
              <a:buSzPct val="100000"/>
              <a:buChar char="•"/>
            </a:pPr>
            <a:r>
              <a:rPr lang="en-US" sz="1100">
                <a:solidFill>
                  <a:srgbClr val="2B4150"/>
                </a:solidFill>
                <a:latin typeface="Source Sans 3" pitchFamily="34" charset="0"/>
                <a:ea typeface="Source Sans 3" pitchFamily="34" charset="-122"/>
                <a:cs typeface="Source Sans 3" pitchFamily="34" charset="-120"/>
              </a:rPr>
              <a:t>Manages secure login credentials with encrypted passwords</a:t>
            </a:r>
            <a:endParaRPr lang="en-US" sz="1100"/>
          </a:p>
          <a:p>
            <a:pPr marL="342900" indent="-342900" algn="l">
              <a:lnSpc>
                <a:spcPts val="1500"/>
              </a:lnSpc>
              <a:buSzPct val="100000"/>
              <a:buChar char="•"/>
            </a:pPr>
            <a:r>
              <a:rPr lang="en-US" sz="1100">
                <a:solidFill>
                  <a:srgbClr val="2B4150"/>
                </a:solidFill>
                <a:latin typeface="Source Sans 3" pitchFamily="34" charset="0"/>
                <a:ea typeface="Source Sans 3" pitchFamily="34" charset="-122"/>
                <a:cs typeface="Source Sans 3" pitchFamily="34" charset="-120"/>
              </a:rPr>
              <a:t>Maintains user roles and permissions</a:t>
            </a:r>
            <a:endParaRPr lang="en-US" sz="1100"/>
          </a:p>
          <a:p>
            <a:pPr marL="342900" indent="-342900" algn="l">
              <a:lnSpc>
                <a:spcPts val="1500"/>
              </a:lnSpc>
              <a:buSzPct val="100000"/>
              <a:buChar char="•"/>
            </a:pPr>
            <a:r>
              <a:rPr lang="en-US" sz="1100">
                <a:solidFill>
                  <a:srgbClr val="2B4150"/>
                </a:solidFill>
                <a:latin typeface="Source Sans 3" pitchFamily="34" charset="0"/>
                <a:ea typeface="Source Sans 3" pitchFamily="34" charset="-122"/>
                <a:cs typeface="Source Sans 3" pitchFamily="34" charset="-120"/>
              </a:rPr>
              <a:t>Provides relational database structure for data integrity</a:t>
            </a:r>
            <a:endParaRPr lang="en-US" sz="1100"/>
          </a:p>
        </p:txBody>
      </p:sp>
      <p:sp>
        <p:nvSpPr>
          <p:cNvPr id="34" name="Text 32"/>
          <p:cNvSpPr/>
          <p:nvPr/>
        </p:nvSpPr>
        <p:spPr>
          <a:xfrm>
            <a:off x="7496651" y="6547723"/>
            <a:ext cx="1783080" cy="222885"/>
          </a:xfrm>
          <a:prstGeom prst="rect">
            <a:avLst/>
          </a:prstGeom>
          <a:noFill/>
          <a:ln/>
        </p:spPr>
        <p:txBody>
          <a:bodyPr wrap="none" lIns="0" tIns="0" rIns="0" bIns="0" rtlCol="0" anchor="t"/>
          <a:lstStyle/>
          <a:p>
            <a:pPr marL="0" indent="0" algn="l">
              <a:lnSpc>
                <a:spcPts val="1750"/>
              </a:lnSpc>
              <a:buNone/>
            </a:pPr>
            <a:r>
              <a:rPr lang="en-US" sz="2000">
                <a:solidFill>
                  <a:srgbClr val="124E73"/>
                </a:solidFill>
                <a:latin typeface="Times New Roman" panose="02020603050405020304" pitchFamily="18" charset="0"/>
                <a:ea typeface="MuseoModerno Medium" pitchFamily="34" charset="-122"/>
                <a:cs typeface="Times New Roman" panose="02020603050405020304" pitchFamily="18" charset="0"/>
              </a:rPr>
              <a:t>CSV Files</a:t>
            </a:r>
            <a:endParaRPr lang="en-US" sz="2000">
              <a:latin typeface="Times New Roman" panose="02020603050405020304" pitchFamily="18" charset="0"/>
              <a:cs typeface="Times New Roman" panose="02020603050405020304" pitchFamily="18" charset="0"/>
            </a:endParaRPr>
          </a:p>
        </p:txBody>
      </p:sp>
      <p:sp>
        <p:nvSpPr>
          <p:cNvPr id="35" name="Text 33"/>
          <p:cNvSpPr/>
          <p:nvPr/>
        </p:nvSpPr>
        <p:spPr>
          <a:xfrm>
            <a:off x="7496651" y="6873121"/>
            <a:ext cx="5450562" cy="891897"/>
          </a:xfrm>
          <a:prstGeom prst="rect">
            <a:avLst/>
          </a:prstGeom>
          <a:noFill/>
          <a:ln/>
        </p:spPr>
        <p:txBody>
          <a:bodyPr wrap="square" lIns="0" tIns="0" rIns="0" bIns="0" rtlCol="0" anchor="t"/>
          <a:lstStyle/>
          <a:p>
            <a:pPr marL="342900" indent="-342900" algn="l">
              <a:lnSpc>
                <a:spcPts val="1500"/>
              </a:lnSpc>
              <a:buSzPct val="100000"/>
              <a:buChar char="•"/>
            </a:pPr>
            <a:r>
              <a:rPr lang="en-US" sz="1100">
                <a:solidFill>
                  <a:srgbClr val="2B4150"/>
                </a:solidFill>
                <a:latin typeface="Source Sans 3" pitchFamily="34" charset="0"/>
                <a:ea typeface="Source Sans 3" pitchFamily="34" charset="-122"/>
                <a:cs typeface="Source Sans 3" pitchFamily="34" charset="-120"/>
              </a:rPr>
              <a:t>Stores daily attendance records with timestamps</a:t>
            </a:r>
            <a:endParaRPr lang="en-US" sz="1100"/>
          </a:p>
          <a:p>
            <a:pPr marL="342900" indent="-342900" algn="l">
              <a:lnSpc>
                <a:spcPts val="1500"/>
              </a:lnSpc>
              <a:buSzPct val="100000"/>
              <a:buChar char="•"/>
            </a:pPr>
            <a:r>
              <a:rPr lang="en-US" sz="1100">
                <a:solidFill>
                  <a:srgbClr val="2B4150"/>
                </a:solidFill>
                <a:latin typeface="Source Sans 3" pitchFamily="34" charset="0"/>
                <a:ea typeface="Source Sans 3" pitchFamily="34" charset="-122"/>
                <a:cs typeface="Source Sans 3" pitchFamily="34" charset="-120"/>
              </a:rPr>
              <a:t>Creates separate files for each day automatically</a:t>
            </a:r>
            <a:endParaRPr lang="en-US" sz="1100"/>
          </a:p>
          <a:p>
            <a:pPr marL="342900" indent="-342900" algn="l">
              <a:lnSpc>
                <a:spcPts val="1500"/>
              </a:lnSpc>
              <a:buSzPct val="100000"/>
              <a:buChar char="•"/>
            </a:pPr>
            <a:r>
              <a:rPr lang="en-US" sz="1100">
                <a:solidFill>
                  <a:srgbClr val="2B4150"/>
                </a:solidFill>
                <a:latin typeface="Source Sans 3" pitchFamily="34" charset="0"/>
                <a:ea typeface="Source Sans 3" pitchFamily="34" charset="-122"/>
                <a:cs typeface="Source Sans 3" pitchFamily="34" charset="-120"/>
              </a:rPr>
              <a:t>Allows easy import/export for reporting</a:t>
            </a:r>
            <a:endParaRPr lang="en-US" sz="1100"/>
          </a:p>
          <a:p>
            <a:pPr marL="342900" indent="-342900" algn="l">
              <a:lnSpc>
                <a:spcPts val="1500"/>
              </a:lnSpc>
              <a:buSzPct val="100000"/>
              <a:buChar char="•"/>
            </a:pPr>
            <a:r>
              <a:rPr lang="en-US" sz="1100">
                <a:solidFill>
                  <a:srgbClr val="2B4150"/>
                </a:solidFill>
                <a:latin typeface="Source Sans 3" pitchFamily="34" charset="0"/>
                <a:ea typeface="Source Sans 3" pitchFamily="34" charset="-122"/>
                <a:cs typeface="Source Sans 3" pitchFamily="34" charset="-120"/>
              </a:rPr>
              <a:t>Maintains simple, human-readable format</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956905" y="485894"/>
            <a:ext cx="4031456" cy="503873"/>
          </a:xfrm>
          <a:prstGeom prst="rect">
            <a:avLst/>
          </a:prstGeom>
          <a:noFill/>
          <a:ln/>
        </p:spPr>
        <p:txBody>
          <a:bodyPr wrap="none" lIns="0" tIns="0" rIns="0" bIns="0" rtlCol="0" anchor="t"/>
          <a:lstStyle/>
          <a:p>
            <a:pPr marL="0" indent="0" algn="l">
              <a:lnSpc>
                <a:spcPts val="3950"/>
              </a:lnSpc>
              <a:buNone/>
            </a:pPr>
            <a:r>
              <a:rPr lang="en-US" sz="4000">
                <a:solidFill>
                  <a:srgbClr val="124E73"/>
                </a:solidFill>
                <a:latin typeface="Times New Roman" panose="02020603050405020304" pitchFamily="18" charset="0"/>
                <a:ea typeface="MuseoModerno Medium" pitchFamily="34" charset="-122"/>
                <a:cs typeface="Times New Roman" panose="02020603050405020304" pitchFamily="18" charset="0"/>
              </a:rPr>
              <a:t>System Workflow</a:t>
            </a:r>
            <a:endParaRPr lang="en-US" sz="4000">
              <a:latin typeface="Times New Roman" panose="02020603050405020304" pitchFamily="18" charset="0"/>
              <a:cs typeface="Times New Roman" panose="02020603050405020304" pitchFamily="18" charset="0"/>
            </a:endParaRPr>
          </a:p>
        </p:txBody>
      </p:sp>
      <p:sp>
        <p:nvSpPr>
          <p:cNvPr id="3" name="Text 1"/>
          <p:cNvSpPr/>
          <p:nvPr/>
        </p:nvSpPr>
        <p:spPr>
          <a:xfrm>
            <a:off x="956905" y="1251704"/>
            <a:ext cx="12716470" cy="233720"/>
          </a:xfrm>
          <a:prstGeom prst="rect">
            <a:avLst/>
          </a:prstGeom>
          <a:noFill/>
          <a:ln/>
        </p:spPr>
        <p:txBody>
          <a:bodyPr wrap="none" lIns="0" tIns="0" rIns="0" bIns="0" rtlCol="0" anchor="t"/>
          <a:lstStyle/>
          <a:p>
            <a:pPr marL="0" indent="0" algn="l">
              <a:lnSpc>
                <a:spcPts val="1800"/>
              </a:lnSpc>
              <a:buNone/>
            </a:pPr>
            <a:r>
              <a:rPr lang="en-US" sz="1250">
                <a:solidFill>
                  <a:srgbClr val="2B4150"/>
                </a:solidFill>
                <a:latin typeface="Source Sans 3" pitchFamily="34" charset="0"/>
                <a:ea typeface="Source Sans 3" pitchFamily="34" charset="-122"/>
                <a:cs typeface="Source Sans 3" pitchFamily="34" charset="-120"/>
              </a:rPr>
              <a:t>The system operates through a six-stage process that transforms raw facial images into accurate attendance records:</a:t>
            </a:r>
            <a:endParaRPr lang="en-US" sz="1250"/>
          </a:p>
        </p:txBody>
      </p:sp>
      <p:pic>
        <p:nvPicPr>
          <p:cNvPr id="4" name="Image 0" descr="preencoded.png"/>
          <p:cNvPicPr>
            <a:picLocks noChangeAspect="1"/>
          </p:cNvPicPr>
          <p:nvPr/>
        </p:nvPicPr>
        <p:blipFill>
          <a:blip r:embed="rId3"/>
          <a:stretch>
            <a:fillRect/>
          </a:stretch>
        </p:blipFill>
        <p:spPr>
          <a:xfrm>
            <a:off x="956905" y="1632823"/>
            <a:ext cx="806291" cy="1120378"/>
          </a:xfrm>
          <a:prstGeom prst="rect">
            <a:avLst/>
          </a:prstGeom>
        </p:spPr>
      </p:pic>
      <p:sp>
        <p:nvSpPr>
          <p:cNvPr id="5" name="Text 2"/>
          <p:cNvSpPr/>
          <p:nvPr/>
        </p:nvSpPr>
        <p:spPr>
          <a:xfrm>
            <a:off x="1894165" y="1794034"/>
            <a:ext cx="2037159" cy="251936"/>
          </a:xfrm>
          <a:prstGeom prst="rect">
            <a:avLst/>
          </a:prstGeom>
          <a:noFill/>
          <a:ln/>
        </p:spPr>
        <p:txBody>
          <a:bodyPr wrap="none" lIns="0" tIns="0" rIns="0" bIns="0" rtlCol="0" anchor="t"/>
          <a:lstStyle/>
          <a:p>
            <a:pPr marL="0" indent="0" algn="l">
              <a:lnSpc>
                <a:spcPts val="1950"/>
              </a:lnSpc>
              <a:buNone/>
            </a:pPr>
            <a:r>
              <a:rPr lang="en-US" sz="1550">
                <a:solidFill>
                  <a:srgbClr val="2B4150"/>
                </a:solidFill>
                <a:latin typeface="Times New Roman" panose="02020603050405020304" pitchFamily="18" charset="0"/>
                <a:ea typeface="MuseoModerno Medium" pitchFamily="34" charset="-122"/>
                <a:cs typeface="Times New Roman" panose="02020603050405020304" pitchFamily="18" charset="0"/>
              </a:rPr>
              <a:t>Student Registration</a:t>
            </a:r>
            <a:endParaRPr lang="en-US" sz="1550">
              <a:latin typeface="Times New Roman" panose="02020603050405020304" pitchFamily="18" charset="0"/>
              <a:cs typeface="Times New Roman" panose="02020603050405020304" pitchFamily="18" charset="0"/>
            </a:endParaRPr>
          </a:p>
        </p:txBody>
      </p:sp>
      <p:sp>
        <p:nvSpPr>
          <p:cNvPr id="6" name="Text 3"/>
          <p:cNvSpPr/>
          <p:nvPr/>
        </p:nvSpPr>
        <p:spPr>
          <a:xfrm>
            <a:off x="1894165" y="2124551"/>
            <a:ext cx="11779210" cy="467439"/>
          </a:xfrm>
          <a:prstGeom prst="rect">
            <a:avLst/>
          </a:prstGeom>
          <a:noFill/>
          <a:ln/>
        </p:spPr>
        <p:txBody>
          <a:bodyPr wrap="square" lIns="0" tIns="0" rIns="0" bIns="0" rtlCol="0" anchor="t"/>
          <a:lstStyle/>
          <a:p>
            <a:pPr marL="0" indent="0" algn="l">
              <a:lnSpc>
                <a:spcPts val="1800"/>
              </a:lnSpc>
              <a:buNone/>
            </a:pPr>
            <a:r>
              <a:rPr lang="en-US" sz="1250">
                <a:solidFill>
                  <a:srgbClr val="2B4150"/>
                </a:solidFill>
                <a:latin typeface="Source Sans 3" pitchFamily="34" charset="0"/>
                <a:ea typeface="Source Sans 3" pitchFamily="34" charset="-122"/>
                <a:cs typeface="Source Sans 3" pitchFamily="34" charset="-120"/>
              </a:rPr>
              <a:t>User enters student details including name, ID, and other relevant information through the GUI interface. Data is validated and stored securely in the MySQL database with unique identifiers</a:t>
            </a:r>
            <a:endParaRPr lang="en-US" sz="1250"/>
          </a:p>
        </p:txBody>
      </p:sp>
      <p:pic>
        <p:nvPicPr>
          <p:cNvPr id="7" name="Image 1" descr="preencoded.png"/>
          <p:cNvPicPr>
            <a:picLocks noChangeAspect="1"/>
          </p:cNvPicPr>
          <p:nvPr/>
        </p:nvPicPr>
        <p:blipFill>
          <a:blip r:embed="rId4"/>
          <a:stretch>
            <a:fillRect/>
          </a:stretch>
        </p:blipFill>
        <p:spPr>
          <a:xfrm>
            <a:off x="956905" y="2753201"/>
            <a:ext cx="806291" cy="1120378"/>
          </a:xfrm>
          <a:prstGeom prst="rect">
            <a:avLst/>
          </a:prstGeom>
        </p:spPr>
      </p:pic>
      <p:sp>
        <p:nvSpPr>
          <p:cNvPr id="8" name="Text 4"/>
          <p:cNvSpPr/>
          <p:nvPr/>
        </p:nvSpPr>
        <p:spPr>
          <a:xfrm>
            <a:off x="1894165" y="2914412"/>
            <a:ext cx="2015728" cy="251936"/>
          </a:xfrm>
          <a:prstGeom prst="rect">
            <a:avLst/>
          </a:prstGeom>
          <a:noFill/>
          <a:ln/>
        </p:spPr>
        <p:txBody>
          <a:bodyPr wrap="none" lIns="0" tIns="0" rIns="0" bIns="0" rtlCol="0" anchor="t"/>
          <a:lstStyle/>
          <a:p>
            <a:pPr marL="0" indent="0" algn="l">
              <a:lnSpc>
                <a:spcPts val="1950"/>
              </a:lnSpc>
              <a:buNone/>
            </a:pPr>
            <a:r>
              <a:rPr lang="en-US" sz="1550">
                <a:solidFill>
                  <a:srgbClr val="2B4150"/>
                </a:solidFill>
                <a:latin typeface="Times New Roman" panose="02020603050405020304" pitchFamily="18" charset="0"/>
                <a:ea typeface="MuseoModerno Medium" pitchFamily="34" charset="-122"/>
                <a:cs typeface="Times New Roman" panose="02020603050405020304" pitchFamily="18" charset="0"/>
              </a:rPr>
              <a:t>Image Capture</a:t>
            </a:r>
            <a:endParaRPr lang="en-US" sz="1550">
              <a:latin typeface="Times New Roman" panose="02020603050405020304" pitchFamily="18" charset="0"/>
              <a:cs typeface="Times New Roman" panose="02020603050405020304" pitchFamily="18" charset="0"/>
            </a:endParaRPr>
          </a:p>
        </p:txBody>
      </p:sp>
      <p:sp>
        <p:nvSpPr>
          <p:cNvPr id="9" name="Text 5"/>
          <p:cNvSpPr/>
          <p:nvPr/>
        </p:nvSpPr>
        <p:spPr>
          <a:xfrm>
            <a:off x="1894165" y="3244929"/>
            <a:ext cx="11779210" cy="467439"/>
          </a:xfrm>
          <a:prstGeom prst="rect">
            <a:avLst/>
          </a:prstGeom>
          <a:noFill/>
          <a:ln/>
        </p:spPr>
        <p:txBody>
          <a:bodyPr wrap="square" lIns="0" tIns="0" rIns="0" bIns="0" rtlCol="0" anchor="t"/>
          <a:lstStyle/>
          <a:p>
            <a:pPr marL="0" indent="0" algn="l">
              <a:lnSpc>
                <a:spcPts val="1800"/>
              </a:lnSpc>
              <a:buNone/>
            </a:pPr>
            <a:r>
              <a:rPr lang="en-US" sz="1250">
                <a:solidFill>
                  <a:srgbClr val="2B4150"/>
                </a:solidFill>
                <a:latin typeface="Source Sans 3" pitchFamily="34" charset="0"/>
                <a:ea typeface="Source Sans 3" pitchFamily="34" charset="-122"/>
                <a:cs typeface="Source Sans 3" pitchFamily="34" charset="-120"/>
              </a:rPr>
              <a:t>Webcam captures multiple face images of the registered student. Images are saved in the dataset folder with unique naming conventions linking them to the student's database record</a:t>
            </a:r>
            <a:endParaRPr lang="en-US" sz="1250"/>
          </a:p>
        </p:txBody>
      </p:sp>
      <p:pic>
        <p:nvPicPr>
          <p:cNvPr id="10" name="Image 2" descr="preencoded.png"/>
          <p:cNvPicPr>
            <a:picLocks noChangeAspect="1"/>
          </p:cNvPicPr>
          <p:nvPr/>
        </p:nvPicPr>
        <p:blipFill>
          <a:blip r:embed="rId5"/>
          <a:stretch>
            <a:fillRect/>
          </a:stretch>
        </p:blipFill>
        <p:spPr>
          <a:xfrm>
            <a:off x="956905" y="3873579"/>
            <a:ext cx="806291" cy="967502"/>
          </a:xfrm>
          <a:prstGeom prst="rect">
            <a:avLst/>
          </a:prstGeom>
        </p:spPr>
      </p:pic>
      <p:sp>
        <p:nvSpPr>
          <p:cNvPr id="11" name="Text 6"/>
          <p:cNvSpPr/>
          <p:nvPr/>
        </p:nvSpPr>
        <p:spPr>
          <a:xfrm>
            <a:off x="1894165" y="4034790"/>
            <a:ext cx="2015728" cy="251936"/>
          </a:xfrm>
          <a:prstGeom prst="rect">
            <a:avLst/>
          </a:prstGeom>
          <a:noFill/>
          <a:ln/>
        </p:spPr>
        <p:txBody>
          <a:bodyPr wrap="none" lIns="0" tIns="0" rIns="0" bIns="0" rtlCol="0" anchor="t"/>
          <a:lstStyle/>
          <a:p>
            <a:pPr marL="0" indent="0" algn="l">
              <a:lnSpc>
                <a:spcPts val="1950"/>
              </a:lnSpc>
              <a:buNone/>
            </a:pPr>
            <a:r>
              <a:rPr lang="en-US" sz="1550">
                <a:solidFill>
                  <a:srgbClr val="2B4150"/>
                </a:solidFill>
                <a:latin typeface="Times New Roman" panose="02020603050405020304" pitchFamily="18" charset="0"/>
                <a:ea typeface="MuseoModerno Medium" pitchFamily="34" charset="-122"/>
                <a:cs typeface="Times New Roman" panose="02020603050405020304" pitchFamily="18" charset="0"/>
              </a:rPr>
              <a:t>Model Training</a:t>
            </a:r>
            <a:endParaRPr lang="en-US" sz="1550">
              <a:latin typeface="Times New Roman" panose="02020603050405020304" pitchFamily="18" charset="0"/>
              <a:cs typeface="Times New Roman" panose="02020603050405020304" pitchFamily="18" charset="0"/>
            </a:endParaRPr>
          </a:p>
        </p:txBody>
      </p:sp>
      <p:sp>
        <p:nvSpPr>
          <p:cNvPr id="12" name="Text 7"/>
          <p:cNvSpPr/>
          <p:nvPr/>
        </p:nvSpPr>
        <p:spPr>
          <a:xfrm>
            <a:off x="1894165" y="4365308"/>
            <a:ext cx="11779210" cy="233720"/>
          </a:xfrm>
          <a:prstGeom prst="rect">
            <a:avLst/>
          </a:prstGeom>
          <a:noFill/>
          <a:ln/>
        </p:spPr>
        <p:txBody>
          <a:bodyPr wrap="none" lIns="0" tIns="0" rIns="0" bIns="0" rtlCol="0" anchor="t"/>
          <a:lstStyle/>
          <a:p>
            <a:pPr marL="0" indent="0" algn="l">
              <a:lnSpc>
                <a:spcPts val="1800"/>
              </a:lnSpc>
              <a:buNone/>
            </a:pPr>
            <a:r>
              <a:rPr lang="en-US" sz="1250">
                <a:solidFill>
                  <a:srgbClr val="2B4150"/>
                </a:solidFill>
                <a:latin typeface="Source Sans 3" pitchFamily="34" charset="0"/>
                <a:ea typeface="Source Sans 3" pitchFamily="34" charset="-122"/>
                <a:cs typeface="Source Sans 3" pitchFamily="34" charset="-120"/>
              </a:rPr>
              <a:t>Images are converted to grayscale for processing. The LBPH algorithm analyzes facial patterns and creates a trained model saved as classifier.xml for future recognition</a:t>
            </a:r>
            <a:endParaRPr lang="en-US" sz="1250"/>
          </a:p>
        </p:txBody>
      </p:sp>
      <p:pic>
        <p:nvPicPr>
          <p:cNvPr id="13" name="Image 3" descr="preencoded.png"/>
          <p:cNvPicPr>
            <a:picLocks noChangeAspect="1"/>
          </p:cNvPicPr>
          <p:nvPr/>
        </p:nvPicPr>
        <p:blipFill>
          <a:blip r:embed="rId6"/>
          <a:stretch>
            <a:fillRect/>
          </a:stretch>
        </p:blipFill>
        <p:spPr>
          <a:xfrm>
            <a:off x="956905" y="4841081"/>
            <a:ext cx="806291" cy="967502"/>
          </a:xfrm>
          <a:prstGeom prst="rect">
            <a:avLst/>
          </a:prstGeom>
        </p:spPr>
      </p:pic>
      <p:sp>
        <p:nvSpPr>
          <p:cNvPr id="14" name="Text 8"/>
          <p:cNvSpPr/>
          <p:nvPr/>
        </p:nvSpPr>
        <p:spPr>
          <a:xfrm>
            <a:off x="1894165" y="5002292"/>
            <a:ext cx="2015728" cy="251936"/>
          </a:xfrm>
          <a:prstGeom prst="rect">
            <a:avLst/>
          </a:prstGeom>
          <a:noFill/>
          <a:ln/>
        </p:spPr>
        <p:txBody>
          <a:bodyPr wrap="none" lIns="0" tIns="0" rIns="0" bIns="0" rtlCol="0" anchor="t"/>
          <a:lstStyle/>
          <a:p>
            <a:pPr marL="0" indent="0" algn="l">
              <a:lnSpc>
                <a:spcPts val="1950"/>
              </a:lnSpc>
              <a:buNone/>
            </a:pPr>
            <a:r>
              <a:rPr lang="en-US" sz="1550">
                <a:solidFill>
                  <a:srgbClr val="2B4150"/>
                </a:solidFill>
                <a:latin typeface="Times New Roman" panose="02020603050405020304" pitchFamily="18" charset="0"/>
                <a:ea typeface="MuseoModerno Medium" pitchFamily="34" charset="-122"/>
                <a:cs typeface="Times New Roman" panose="02020603050405020304" pitchFamily="18" charset="0"/>
              </a:rPr>
              <a:t>Face Detection</a:t>
            </a:r>
            <a:endParaRPr lang="en-US" sz="1550">
              <a:latin typeface="Times New Roman" panose="02020603050405020304" pitchFamily="18" charset="0"/>
              <a:cs typeface="Times New Roman" panose="02020603050405020304" pitchFamily="18" charset="0"/>
            </a:endParaRPr>
          </a:p>
        </p:txBody>
      </p:sp>
      <p:sp>
        <p:nvSpPr>
          <p:cNvPr id="15" name="Text 9"/>
          <p:cNvSpPr/>
          <p:nvPr/>
        </p:nvSpPr>
        <p:spPr>
          <a:xfrm>
            <a:off x="1894165" y="5332809"/>
            <a:ext cx="11779210" cy="233720"/>
          </a:xfrm>
          <a:prstGeom prst="rect">
            <a:avLst/>
          </a:prstGeom>
          <a:noFill/>
          <a:ln/>
        </p:spPr>
        <p:txBody>
          <a:bodyPr wrap="none" lIns="0" tIns="0" rIns="0" bIns="0" rtlCol="0" anchor="t"/>
          <a:lstStyle/>
          <a:p>
            <a:pPr marL="0" indent="0" algn="l">
              <a:lnSpc>
                <a:spcPts val="1800"/>
              </a:lnSpc>
              <a:buNone/>
            </a:pPr>
            <a:r>
              <a:rPr lang="en-US" sz="1250">
                <a:solidFill>
                  <a:srgbClr val="2B4150"/>
                </a:solidFill>
                <a:latin typeface="Source Sans 3" pitchFamily="34" charset="0"/>
                <a:ea typeface="Source Sans 3" pitchFamily="34" charset="-122"/>
                <a:cs typeface="Source Sans 3" pitchFamily="34" charset="-120"/>
              </a:rPr>
              <a:t>Haar Cascade classifier detects faces in real-time video feed. The system identifies face regions and prepares them for recognition by normalizing size and lighting</a:t>
            </a:r>
            <a:endParaRPr lang="en-US" sz="1250"/>
          </a:p>
        </p:txBody>
      </p:sp>
      <p:pic>
        <p:nvPicPr>
          <p:cNvPr id="16" name="Image 4" descr="preencoded.png"/>
          <p:cNvPicPr>
            <a:picLocks noChangeAspect="1"/>
          </p:cNvPicPr>
          <p:nvPr/>
        </p:nvPicPr>
        <p:blipFill>
          <a:blip r:embed="rId7"/>
          <a:stretch>
            <a:fillRect/>
          </a:stretch>
        </p:blipFill>
        <p:spPr>
          <a:xfrm>
            <a:off x="956905" y="5808583"/>
            <a:ext cx="806291" cy="967502"/>
          </a:xfrm>
          <a:prstGeom prst="rect">
            <a:avLst/>
          </a:prstGeom>
        </p:spPr>
      </p:pic>
      <p:sp>
        <p:nvSpPr>
          <p:cNvPr id="17" name="Text 10"/>
          <p:cNvSpPr/>
          <p:nvPr/>
        </p:nvSpPr>
        <p:spPr>
          <a:xfrm>
            <a:off x="1894165" y="5969794"/>
            <a:ext cx="2015728" cy="251936"/>
          </a:xfrm>
          <a:prstGeom prst="rect">
            <a:avLst/>
          </a:prstGeom>
          <a:noFill/>
          <a:ln/>
        </p:spPr>
        <p:txBody>
          <a:bodyPr wrap="none" lIns="0" tIns="0" rIns="0" bIns="0" rtlCol="0" anchor="t"/>
          <a:lstStyle/>
          <a:p>
            <a:pPr marL="0" indent="0" algn="l">
              <a:lnSpc>
                <a:spcPts val="1950"/>
              </a:lnSpc>
              <a:buNone/>
            </a:pPr>
            <a:r>
              <a:rPr lang="en-US" sz="1550">
                <a:solidFill>
                  <a:srgbClr val="2B4150"/>
                </a:solidFill>
                <a:latin typeface="Times New Roman" panose="02020603050405020304" pitchFamily="18" charset="0"/>
                <a:ea typeface="MuseoModerno Medium" pitchFamily="34" charset="-122"/>
                <a:cs typeface="Times New Roman" panose="02020603050405020304" pitchFamily="18" charset="0"/>
              </a:rPr>
              <a:t>Face Recognition</a:t>
            </a:r>
            <a:endParaRPr lang="en-US" sz="1550">
              <a:latin typeface="Times New Roman" panose="02020603050405020304" pitchFamily="18" charset="0"/>
              <a:cs typeface="Times New Roman" panose="02020603050405020304" pitchFamily="18" charset="0"/>
            </a:endParaRPr>
          </a:p>
        </p:txBody>
      </p:sp>
      <p:sp>
        <p:nvSpPr>
          <p:cNvPr id="18" name="Text 11"/>
          <p:cNvSpPr/>
          <p:nvPr/>
        </p:nvSpPr>
        <p:spPr>
          <a:xfrm>
            <a:off x="1894165" y="6300311"/>
            <a:ext cx="11779210" cy="233720"/>
          </a:xfrm>
          <a:prstGeom prst="rect">
            <a:avLst/>
          </a:prstGeom>
          <a:noFill/>
          <a:ln/>
        </p:spPr>
        <p:txBody>
          <a:bodyPr wrap="none" lIns="0" tIns="0" rIns="0" bIns="0" rtlCol="0" anchor="t"/>
          <a:lstStyle/>
          <a:p>
            <a:pPr marL="0" indent="0" algn="l">
              <a:lnSpc>
                <a:spcPts val="1800"/>
              </a:lnSpc>
              <a:buNone/>
            </a:pPr>
            <a:r>
              <a:rPr lang="en-US" sz="1250">
                <a:solidFill>
                  <a:srgbClr val="2B4150"/>
                </a:solidFill>
                <a:latin typeface="Source Sans 3" pitchFamily="34" charset="0"/>
                <a:ea typeface="Source Sans 3" pitchFamily="34" charset="-122"/>
                <a:cs typeface="Source Sans 3" pitchFamily="34" charset="-120"/>
              </a:rPr>
              <a:t>Detected face is compared against the trained dataset using LBPH algorithm. The system calculates confidence levels and identifies the student if match threshold is exceeded</a:t>
            </a:r>
            <a:endParaRPr lang="en-US" sz="1250"/>
          </a:p>
        </p:txBody>
      </p:sp>
      <p:pic>
        <p:nvPicPr>
          <p:cNvPr id="19" name="Image 5" descr="preencoded.png"/>
          <p:cNvPicPr>
            <a:picLocks noChangeAspect="1"/>
          </p:cNvPicPr>
          <p:nvPr/>
        </p:nvPicPr>
        <p:blipFill>
          <a:blip r:embed="rId8"/>
          <a:stretch>
            <a:fillRect/>
          </a:stretch>
        </p:blipFill>
        <p:spPr>
          <a:xfrm>
            <a:off x="956905" y="6776085"/>
            <a:ext cx="806291" cy="967502"/>
          </a:xfrm>
          <a:prstGeom prst="rect">
            <a:avLst/>
          </a:prstGeom>
        </p:spPr>
      </p:pic>
      <p:sp>
        <p:nvSpPr>
          <p:cNvPr id="20" name="Text 12"/>
          <p:cNvSpPr/>
          <p:nvPr/>
        </p:nvSpPr>
        <p:spPr>
          <a:xfrm>
            <a:off x="1894165" y="6937296"/>
            <a:ext cx="2023229" cy="251936"/>
          </a:xfrm>
          <a:prstGeom prst="rect">
            <a:avLst/>
          </a:prstGeom>
          <a:noFill/>
          <a:ln/>
        </p:spPr>
        <p:txBody>
          <a:bodyPr wrap="none" lIns="0" tIns="0" rIns="0" bIns="0" rtlCol="0" anchor="t"/>
          <a:lstStyle/>
          <a:p>
            <a:pPr marL="0" indent="0" algn="l">
              <a:lnSpc>
                <a:spcPts val="1950"/>
              </a:lnSpc>
              <a:buNone/>
            </a:pPr>
            <a:r>
              <a:rPr lang="en-US" sz="1550">
                <a:solidFill>
                  <a:srgbClr val="2B4150"/>
                </a:solidFill>
                <a:latin typeface="Times New Roman" panose="02020603050405020304" pitchFamily="18" charset="0"/>
                <a:ea typeface="MuseoModerno Medium" pitchFamily="34" charset="-122"/>
                <a:cs typeface="Times New Roman" panose="02020603050405020304" pitchFamily="18" charset="0"/>
              </a:rPr>
              <a:t>Attendance Marking</a:t>
            </a:r>
            <a:endParaRPr lang="en-US" sz="1550">
              <a:latin typeface="Times New Roman" panose="02020603050405020304" pitchFamily="18" charset="0"/>
              <a:cs typeface="Times New Roman" panose="02020603050405020304" pitchFamily="18" charset="0"/>
            </a:endParaRPr>
          </a:p>
        </p:txBody>
      </p:sp>
      <p:sp>
        <p:nvSpPr>
          <p:cNvPr id="21" name="Text 13"/>
          <p:cNvSpPr/>
          <p:nvPr/>
        </p:nvSpPr>
        <p:spPr>
          <a:xfrm>
            <a:off x="1894165" y="7267813"/>
            <a:ext cx="11779210" cy="233720"/>
          </a:xfrm>
          <a:prstGeom prst="rect">
            <a:avLst/>
          </a:prstGeom>
          <a:noFill/>
          <a:ln/>
        </p:spPr>
        <p:txBody>
          <a:bodyPr wrap="none" lIns="0" tIns="0" rIns="0" bIns="0" rtlCol="0" anchor="t"/>
          <a:lstStyle/>
          <a:p>
            <a:pPr marL="0" indent="0" algn="l">
              <a:lnSpc>
                <a:spcPts val="1800"/>
              </a:lnSpc>
              <a:buNone/>
            </a:pPr>
            <a:r>
              <a:rPr lang="en-US" sz="1250">
                <a:solidFill>
                  <a:srgbClr val="2B4150"/>
                </a:solidFill>
                <a:latin typeface="Source Sans 3" pitchFamily="34" charset="0"/>
                <a:ea typeface="Source Sans 3" pitchFamily="34" charset="-122"/>
                <a:cs typeface="Source Sans 3" pitchFamily="34" charset="-120"/>
              </a:rPr>
              <a:t>When a match is found, attendance is automatically recorded in CSV file with date, time, student ID, and name. System prevents duplicate entries for the same day</a:t>
            </a:r>
            <a:endParaRPr lang="en-US" sz="125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3157895" y="293608"/>
            <a:ext cx="4776788" cy="329446"/>
          </a:xfrm>
          <a:prstGeom prst="rect">
            <a:avLst/>
          </a:prstGeom>
          <a:noFill/>
          <a:ln/>
        </p:spPr>
        <p:txBody>
          <a:bodyPr wrap="none" lIns="0" tIns="0" rIns="0" bIns="0" rtlCol="0" anchor="t"/>
          <a:lstStyle/>
          <a:p>
            <a:pPr marL="0" indent="0" algn="l">
              <a:lnSpc>
                <a:spcPts val="2550"/>
              </a:lnSpc>
              <a:buNone/>
            </a:pPr>
            <a:r>
              <a:rPr lang="en-US" sz="2800">
                <a:solidFill>
                  <a:srgbClr val="124E73"/>
                </a:solidFill>
                <a:latin typeface="Times New Roman" panose="02020603050405020304" pitchFamily="18" charset="0"/>
                <a:ea typeface="MuseoModerno Medium" pitchFamily="34" charset="-122"/>
                <a:cs typeface="Times New Roman" panose="02020603050405020304" pitchFamily="18" charset="0"/>
              </a:rPr>
              <a:t>Key Features &amp; Future Enhancements</a:t>
            </a:r>
            <a:endParaRPr lang="en-US" sz="2800">
              <a:latin typeface="Times New Roman" panose="02020603050405020304" pitchFamily="18" charset="0"/>
              <a:cs typeface="Times New Roman" panose="02020603050405020304" pitchFamily="18" charset="0"/>
            </a:endParaRPr>
          </a:p>
        </p:txBody>
      </p:sp>
      <p:sp>
        <p:nvSpPr>
          <p:cNvPr id="3" name="Text 1"/>
          <p:cNvSpPr/>
          <p:nvPr/>
        </p:nvSpPr>
        <p:spPr>
          <a:xfrm>
            <a:off x="3157895" y="645438"/>
            <a:ext cx="1878687" cy="197644"/>
          </a:xfrm>
          <a:prstGeom prst="rect">
            <a:avLst/>
          </a:prstGeom>
          <a:noFill/>
          <a:ln/>
        </p:spPr>
        <p:txBody>
          <a:bodyPr wrap="none" lIns="0" tIns="0" rIns="0" bIns="0" rtlCol="0" anchor="t"/>
          <a:lstStyle/>
          <a:p>
            <a:pPr marL="0" indent="0" algn="l">
              <a:lnSpc>
                <a:spcPts val="1550"/>
              </a:lnSpc>
              <a:buNone/>
            </a:pPr>
            <a:r>
              <a:rPr lang="en-US">
                <a:solidFill>
                  <a:srgbClr val="124E73"/>
                </a:solidFill>
                <a:latin typeface="Times New Roman" panose="02020603050405020304" pitchFamily="18" charset="0"/>
                <a:ea typeface="MuseoModerno Medium" pitchFamily="34" charset="-122"/>
                <a:cs typeface="Times New Roman" panose="02020603050405020304" pitchFamily="18" charset="0"/>
              </a:rPr>
              <a:t>Current System Features</a:t>
            </a:r>
            <a:endParaRPr lang="en-US">
              <a:latin typeface="Times New Roman" panose="02020603050405020304" pitchFamily="18" charset="0"/>
              <a:cs typeface="Times New Roman" panose="02020603050405020304" pitchFamily="18" charset="0"/>
            </a:endParaRPr>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57895" y="927021"/>
            <a:ext cx="263485" cy="263485"/>
          </a:xfrm>
          <a:prstGeom prst="rect">
            <a:avLst/>
          </a:prstGeom>
        </p:spPr>
      </p:pic>
      <p:sp>
        <p:nvSpPr>
          <p:cNvPr id="5" name="Text 2"/>
          <p:cNvSpPr/>
          <p:nvPr/>
        </p:nvSpPr>
        <p:spPr>
          <a:xfrm>
            <a:off x="3157895" y="1260515"/>
            <a:ext cx="1568172" cy="164663"/>
          </a:xfrm>
          <a:prstGeom prst="rect">
            <a:avLst/>
          </a:prstGeom>
          <a:noFill/>
          <a:ln/>
        </p:spPr>
        <p:txBody>
          <a:bodyPr wrap="none" lIns="0" tIns="0" rIns="0" bIns="0" rtlCol="0" anchor="t"/>
          <a:lstStyle/>
          <a:p>
            <a:pPr marL="0" indent="0" algn="l">
              <a:lnSpc>
                <a:spcPts val="1250"/>
              </a:lnSpc>
              <a:buNone/>
            </a:pPr>
            <a:r>
              <a:rPr lang="en-US">
                <a:solidFill>
                  <a:srgbClr val="2B4150"/>
                </a:solidFill>
                <a:latin typeface="Times New Roman" panose="02020603050405020304" pitchFamily="18" charset="0"/>
                <a:ea typeface="MuseoModerno Medium" pitchFamily="34" charset="-122"/>
                <a:cs typeface="Times New Roman" panose="02020603050405020304" pitchFamily="18" charset="0"/>
              </a:rPr>
              <a:t>Real-Time Face Detection</a:t>
            </a:r>
            <a:endParaRPr lang="en-US">
              <a:latin typeface="Times New Roman" panose="02020603050405020304" pitchFamily="18" charset="0"/>
              <a:cs typeface="Times New Roman" panose="02020603050405020304" pitchFamily="18" charset="0"/>
            </a:endParaRPr>
          </a:p>
        </p:txBody>
      </p:sp>
      <p:sp>
        <p:nvSpPr>
          <p:cNvPr id="6" name="Text 3"/>
          <p:cNvSpPr/>
          <p:nvPr/>
        </p:nvSpPr>
        <p:spPr>
          <a:xfrm>
            <a:off x="3157895" y="1458754"/>
            <a:ext cx="2724864" cy="387548"/>
          </a:xfrm>
          <a:prstGeom prst="rect">
            <a:avLst/>
          </a:prstGeom>
          <a:noFill/>
          <a:ln/>
        </p:spPr>
        <p:txBody>
          <a:bodyPr wrap="square" lIns="0" tIns="0" rIns="0" bIns="0" rtlCol="0" anchor="t"/>
          <a:lstStyle/>
          <a:p>
            <a:pPr marL="0" indent="0" algn="l">
              <a:lnSpc>
                <a:spcPts val="1000"/>
              </a:lnSpc>
              <a:buNone/>
            </a:pPr>
            <a:r>
              <a:rPr lang="en-US" sz="800">
                <a:solidFill>
                  <a:srgbClr val="2B4150"/>
                </a:solidFill>
                <a:latin typeface="Source Sans 3" pitchFamily="34" charset="0"/>
                <a:ea typeface="Source Sans 3" pitchFamily="34" charset="-122"/>
                <a:cs typeface="Source Sans 3" pitchFamily="34" charset="-120"/>
              </a:rPr>
              <a:t>Continuous face detection using webcam captures with immediate processing and recognition capabilities. System processes video feed at 25+ frames per second</a:t>
            </a:r>
            <a:endParaRPr lang="en-US" sz="800"/>
          </a:p>
        </p:txBody>
      </p:sp>
      <p:pic>
        <p:nvPicPr>
          <p:cNvPr id="7"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952768" y="927021"/>
            <a:ext cx="263485" cy="263485"/>
          </a:xfrm>
          <a:prstGeom prst="rect">
            <a:avLst/>
          </a:prstGeom>
        </p:spPr>
      </p:pic>
      <p:sp>
        <p:nvSpPr>
          <p:cNvPr id="8" name="Text 4"/>
          <p:cNvSpPr/>
          <p:nvPr/>
        </p:nvSpPr>
        <p:spPr>
          <a:xfrm>
            <a:off x="5952768" y="1260515"/>
            <a:ext cx="2017395" cy="164663"/>
          </a:xfrm>
          <a:prstGeom prst="rect">
            <a:avLst/>
          </a:prstGeom>
          <a:noFill/>
          <a:ln/>
        </p:spPr>
        <p:txBody>
          <a:bodyPr wrap="none" lIns="0" tIns="0" rIns="0" bIns="0" rtlCol="0" anchor="t"/>
          <a:lstStyle/>
          <a:p>
            <a:pPr marL="0" indent="0" algn="l">
              <a:lnSpc>
                <a:spcPts val="1250"/>
              </a:lnSpc>
              <a:buNone/>
            </a:pPr>
            <a:r>
              <a:rPr lang="en-US" sz="1600">
                <a:solidFill>
                  <a:srgbClr val="2B4150"/>
                </a:solidFill>
                <a:latin typeface="Times New Roman" panose="02020603050405020304" pitchFamily="18" charset="0"/>
                <a:ea typeface="MuseoModerno Medium" pitchFamily="34" charset="-122"/>
                <a:cs typeface="Times New Roman" panose="02020603050405020304" pitchFamily="18" charset="0"/>
              </a:rPr>
              <a:t>Automatic Attendance Marking</a:t>
            </a:r>
            <a:endParaRPr lang="en-US" sz="1600">
              <a:latin typeface="Times New Roman" panose="02020603050405020304" pitchFamily="18" charset="0"/>
              <a:cs typeface="Times New Roman" panose="02020603050405020304" pitchFamily="18" charset="0"/>
            </a:endParaRPr>
          </a:p>
        </p:txBody>
      </p:sp>
      <p:sp>
        <p:nvSpPr>
          <p:cNvPr id="9" name="Text 5"/>
          <p:cNvSpPr/>
          <p:nvPr/>
        </p:nvSpPr>
        <p:spPr>
          <a:xfrm>
            <a:off x="5952768" y="1458754"/>
            <a:ext cx="2724864" cy="387548"/>
          </a:xfrm>
          <a:prstGeom prst="rect">
            <a:avLst/>
          </a:prstGeom>
          <a:noFill/>
          <a:ln/>
        </p:spPr>
        <p:txBody>
          <a:bodyPr wrap="square" lIns="0" tIns="0" rIns="0" bIns="0" rtlCol="0" anchor="t"/>
          <a:lstStyle/>
          <a:p>
            <a:pPr marL="0" indent="0" algn="l">
              <a:lnSpc>
                <a:spcPts val="1000"/>
              </a:lnSpc>
              <a:buNone/>
            </a:pPr>
            <a:r>
              <a:rPr lang="en-US" sz="800">
                <a:solidFill>
                  <a:srgbClr val="2B4150"/>
                </a:solidFill>
                <a:latin typeface="Source Sans 3" pitchFamily="34" charset="0"/>
                <a:ea typeface="Source Sans 3" pitchFamily="34" charset="-122"/>
                <a:cs typeface="Source Sans 3" pitchFamily="34" charset="-120"/>
              </a:rPr>
              <a:t>Eliminates manual intervention completely. Once face is recognized, attendance is marked instantly with timestamp and saved to database</a:t>
            </a:r>
            <a:endParaRPr lang="en-US" sz="800"/>
          </a:p>
        </p:txBody>
      </p:sp>
      <p:pic>
        <p:nvPicPr>
          <p:cNvPr id="10"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747641" y="927021"/>
            <a:ext cx="263485" cy="263485"/>
          </a:xfrm>
          <a:prstGeom prst="rect">
            <a:avLst/>
          </a:prstGeom>
        </p:spPr>
      </p:pic>
      <p:sp>
        <p:nvSpPr>
          <p:cNvPr id="11" name="Text 6"/>
          <p:cNvSpPr/>
          <p:nvPr/>
        </p:nvSpPr>
        <p:spPr>
          <a:xfrm>
            <a:off x="8747641" y="1260515"/>
            <a:ext cx="1732717" cy="164663"/>
          </a:xfrm>
          <a:prstGeom prst="rect">
            <a:avLst/>
          </a:prstGeom>
          <a:noFill/>
          <a:ln/>
        </p:spPr>
        <p:txBody>
          <a:bodyPr wrap="none" lIns="0" tIns="0" rIns="0" bIns="0" rtlCol="0" anchor="t"/>
          <a:lstStyle/>
          <a:p>
            <a:pPr marL="0" indent="0" algn="l">
              <a:lnSpc>
                <a:spcPts val="1250"/>
              </a:lnSpc>
              <a:buNone/>
            </a:pPr>
            <a:r>
              <a:rPr lang="en-US" sz="1600">
                <a:solidFill>
                  <a:srgbClr val="2B4150"/>
                </a:solidFill>
                <a:latin typeface="Times New Roman" panose="02020603050405020304" pitchFamily="18" charset="0"/>
                <a:ea typeface="MuseoModerno Medium" pitchFamily="34" charset="-122"/>
                <a:cs typeface="Times New Roman" panose="02020603050405020304" pitchFamily="18" charset="0"/>
              </a:rPr>
              <a:t>Prevents Proxy Attendance</a:t>
            </a:r>
            <a:endParaRPr lang="en-US" sz="1600">
              <a:latin typeface="Times New Roman" panose="02020603050405020304" pitchFamily="18" charset="0"/>
              <a:cs typeface="Times New Roman" panose="02020603050405020304" pitchFamily="18" charset="0"/>
            </a:endParaRPr>
          </a:p>
        </p:txBody>
      </p:sp>
      <p:sp>
        <p:nvSpPr>
          <p:cNvPr id="12" name="Text 7"/>
          <p:cNvSpPr/>
          <p:nvPr/>
        </p:nvSpPr>
        <p:spPr>
          <a:xfrm>
            <a:off x="8747641" y="1458754"/>
            <a:ext cx="2724864" cy="387548"/>
          </a:xfrm>
          <a:prstGeom prst="rect">
            <a:avLst/>
          </a:prstGeom>
          <a:noFill/>
          <a:ln/>
        </p:spPr>
        <p:txBody>
          <a:bodyPr wrap="square" lIns="0" tIns="0" rIns="0" bIns="0" rtlCol="0" anchor="t"/>
          <a:lstStyle/>
          <a:p>
            <a:pPr marL="0" indent="0" algn="l">
              <a:lnSpc>
                <a:spcPts val="1000"/>
              </a:lnSpc>
              <a:buNone/>
            </a:pPr>
            <a:r>
              <a:rPr lang="en-US" sz="800">
                <a:solidFill>
                  <a:srgbClr val="2B4150"/>
                </a:solidFill>
                <a:latin typeface="Source Sans 3" pitchFamily="34" charset="0"/>
                <a:ea typeface="Source Sans 3" pitchFamily="34" charset="-122"/>
                <a:cs typeface="Source Sans 3" pitchFamily="34" charset="-120"/>
              </a:rPr>
              <a:t>Biometric authentication ensures only legitimate students can mark attendance. Impossible for one person to mark for another</a:t>
            </a:r>
            <a:endParaRPr lang="en-US" sz="800"/>
          </a:p>
        </p:txBody>
      </p:sp>
      <p:pic>
        <p:nvPicPr>
          <p:cNvPr id="13"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157895" y="1958221"/>
            <a:ext cx="263485" cy="263485"/>
          </a:xfrm>
          <a:prstGeom prst="rect">
            <a:avLst/>
          </a:prstGeom>
        </p:spPr>
      </p:pic>
      <p:sp>
        <p:nvSpPr>
          <p:cNvPr id="14" name="Text 8"/>
          <p:cNvSpPr/>
          <p:nvPr/>
        </p:nvSpPr>
        <p:spPr>
          <a:xfrm>
            <a:off x="3157895" y="2291715"/>
            <a:ext cx="1317903" cy="164663"/>
          </a:xfrm>
          <a:prstGeom prst="rect">
            <a:avLst/>
          </a:prstGeom>
          <a:noFill/>
          <a:ln/>
        </p:spPr>
        <p:txBody>
          <a:bodyPr wrap="none" lIns="0" tIns="0" rIns="0" bIns="0" rtlCol="0" anchor="t"/>
          <a:lstStyle/>
          <a:p>
            <a:pPr marL="0" indent="0" algn="l">
              <a:lnSpc>
                <a:spcPts val="1250"/>
              </a:lnSpc>
              <a:buNone/>
            </a:pPr>
            <a:r>
              <a:rPr lang="en-US" sz="1600">
                <a:solidFill>
                  <a:srgbClr val="2B4150"/>
                </a:solidFill>
                <a:latin typeface="Times New Roman" panose="02020603050405020304" pitchFamily="18" charset="0"/>
                <a:ea typeface="MuseoModerno Medium" pitchFamily="34" charset="-122"/>
                <a:cs typeface="Times New Roman" panose="02020603050405020304" pitchFamily="18" charset="0"/>
              </a:rPr>
              <a:t>Secure Login System</a:t>
            </a:r>
            <a:endParaRPr lang="en-US" sz="1600">
              <a:latin typeface="Times New Roman" panose="02020603050405020304" pitchFamily="18" charset="0"/>
              <a:cs typeface="Times New Roman" panose="02020603050405020304" pitchFamily="18" charset="0"/>
            </a:endParaRPr>
          </a:p>
        </p:txBody>
      </p:sp>
      <p:sp>
        <p:nvSpPr>
          <p:cNvPr id="15" name="Text 9"/>
          <p:cNvSpPr/>
          <p:nvPr/>
        </p:nvSpPr>
        <p:spPr>
          <a:xfrm>
            <a:off x="3157895" y="2489954"/>
            <a:ext cx="2724864" cy="387548"/>
          </a:xfrm>
          <a:prstGeom prst="rect">
            <a:avLst/>
          </a:prstGeom>
          <a:noFill/>
          <a:ln/>
        </p:spPr>
        <p:txBody>
          <a:bodyPr wrap="square" lIns="0" tIns="0" rIns="0" bIns="0" rtlCol="0" anchor="t"/>
          <a:lstStyle/>
          <a:p>
            <a:pPr marL="0" indent="0" algn="l">
              <a:lnSpc>
                <a:spcPts val="1000"/>
              </a:lnSpc>
              <a:buNone/>
            </a:pPr>
            <a:r>
              <a:rPr lang="en-US" sz="800">
                <a:solidFill>
                  <a:srgbClr val="2B4150"/>
                </a:solidFill>
                <a:latin typeface="Source Sans 3" pitchFamily="34" charset="0"/>
                <a:ea typeface="Source Sans 3" pitchFamily="34" charset="-122"/>
                <a:cs typeface="Source Sans 3" pitchFamily="34" charset="-120"/>
              </a:rPr>
              <a:t>Password hashing using bcrypt ensures credentials are never stored in plain text. Multi-level authentication protects system from unauthorized access</a:t>
            </a:r>
            <a:endParaRPr lang="en-US" sz="800"/>
          </a:p>
        </p:txBody>
      </p:sp>
      <p:pic>
        <p:nvPicPr>
          <p:cNvPr id="16"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952768" y="1958221"/>
            <a:ext cx="263485" cy="263485"/>
          </a:xfrm>
          <a:prstGeom prst="rect">
            <a:avLst/>
          </a:prstGeom>
        </p:spPr>
      </p:pic>
      <p:sp>
        <p:nvSpPr>
          <p:cNvPr id="17" name="Text 10"/>
          <p:cNvSpPr/>
          <p:nvPr/>
        </p:nvSpPr>
        <p:spPr>
          <a:xfrm>
            <a:off x="5952768" y="2291715"/>
            <a:ext cx="1317903" cy="164663"/>
          </a:xfrm>
          <a:prstGeom prst="rect">
            <a:avLst/>
          </a:prstGeom>
          <a:noFill/>
          <a:ln/>
        </p:spPr>
        <p:txBody>
          <a:bodyPr wrap="none" lIns="0" tIns="0" rIns="0" bIns="0" rtlCol="0" anchor="t"/>
          <a:lstStyle/>
          <a:p>
            <a:pPr marL="0" indent="0" algn="l">
              <a:lnSpc>
                <a:spcPts val="1250"/>
              </a:lnSpc>
              <a:buNone/>
            </a:pPr>
            <a:r>
              <a:rPr lang="en-US" sz="1600">
                <a:solidFill>
                  <a:srgbClr val="2B4150"/>
                </a:solidFill>
                <a:latin typeface="Times New Roman" panose="02020603050405020304" pitchFamily="18" charset="0"/>
                <a:ea typeface="MuseoModerno Medium" pitchFamily="34" charset="-122"/>
                <a:cs typeface="Times New Roman" panose="02020603050405020304" pitchFamily="18" charset="0"/>
              </a:rPr>
              <a:t>User-Friendly GUI</a:t>
            </a:r>
            <a:endParaRPr lang="en-US" sz="1600">
              <a:latin typeface="Times New Roman" panose="02020603050405020304" pitchFamily="18" charset="0"/>
              <a:cs typeface="Times New Roman" panose="02020603050405020304" pitchFamily="18" charset="0"/>
            </a:endParaRPr>
          </a:p>
        </p:txBody>
      </p:sp>
      <p:sp>
        <p:nvSpPr>
          <p:cNvPr id="18" name="Text 11"/>
          <p:cNvSpPr/>
          <p:nvPr/>
        </p:nvSpPr>
        <p:spPr>
          <a:xfrm>
            <a:off x="5952768" y="2489954"/>
            <a:ext cx="2724864" cy="387548"/>
          </a:xfrm>
          <a:prstGeom prst="rect">
            <a:avLst/>
          </a:prstGeom>
          <a:noFill/>
          <a:ln/>
        </p:spPr>
        <p:txBody>
          <a:bodyPr wrap="square" lIns="0" tIns="0" rIns="0" bIns="0" rtlCol="0" anchor="t"/>
          <a:lstStyle/>
          <a:p>
            <a:pPr marL="0" indent="0" algn="l">
              <a:lnSpc>
                <a:spcPts val="1000"/>
              </a:lnSpc>
              <a:buNone/>
            </a:pPr>
            <a:r>
              <a:rPr lang="en-US" sz="800">
                <a:solidFill>
                  <a:srgbClr val="2B4150"/>
                </a:solidFill>
                <a:latin typeface="Source Sans 3" pitchFamily="34" charset="0"/>
                <a:ea typeface="Source Sans 3" pitchFamily="34" charset="-122"/>
                <a:cs typeface="Source Sans 3" pitchFamily="34" charset="-120"/>
              </a:rPr>
              <a:t>Tkinter-based dashboard provides intuitive interface with clear navigation, visual feedback, and minimal learning curve for users</a:t>
            </a:r>
            <a:endParaRPr lang="en-US" sz="800"/>
          </a:p>
        </p:txBody>
      </p:sp>
      <p:pic>
        <p:nvPicPr>
          <p:cNvPr id="19"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747641" y="1958221"/>
            <a:ext cx="263485" cy="263485"/>
          </a:xfrm>
          <a:prstGeom prst="rect">
            <a:avLst/>
          </a:prstGeom>
        </p:spPr>
      </p:pic>
      <p:sp>
        <p:nvSpPr>
          <p:cNvPr id="20" name="Text 12"/>
          <p:cNvSpPr/>
          <p:nvPr/>
        </p:nvSpPr>
        <p:spPr>
          <a:xfrm>
            <a:off x="8747641" y="2291715"/>
            <a:ext cx="1396484" cy="164663"/>
          </a:xfrm>
          <a:prstGeom prst="rect">
            <a:avLst/>
          </a:prstGeom>
          <a:noFill/>
          <a:ln/>
        </p:spPr>
        <p:txBody>
          <a:bodyPr wrap="none" lIns="0" tIns="0" rIns="0" bIns="0" rtlCol="0" anchor="t"/>
          <a:lstStyle/>
          <a:p>
            <a:pPr marL="0" indent="0" algn="l">
              <a:lnSpc>
                <a:spcPts val="1250"/>
              </a:lnSpc>
              <a:buNone/>
            </a:pPr>
            <a:r>
              <a:rPr lang="en-US" sz="1600">
                <a:solidFill>
                  <a:srgbClr val="2B4150"/>
                </a:solidFill>
                <a:latin typeface="Times New Roman" panose="02020603050405020304" pitchFamily="18" charset="0"/>
                <a:ea typeface="MuseoModerno Medium" pitchFamily="34" charset="-122"/>
                <a:cs typeface="Times New Roman" panose="02020603050405020304" pitchFamily="18" charset="0"/>
              </a:rPr>
              <a:t>Efficient Data Storage</a:t>
            </a:r>
            <a:endParaRPr lang="en-US" sz="1600">
              <a:latin typeface="Times New Roman" panose="02020603050405020304" pitchFamily="18" charset="0"/>
              <a:cs typeface="Times New Roman" panose="02020603050405020304" pitchFamily="18" charset="0"/>
            </a:endParaRPr>
          </a:p>
        </p:txBody>
      </p:sp>
      <p:sp>
        <p:nvSpPr>
          <p:cNvPr id="21" name="Text 13"/>
          <p:cNvSpPr/>
          <p:nvPr/>
        </p:nvSpPr>
        <p:spPr>
          <a:xfrm>
            <a:off x="8747641" y="2489954"/>
            <a:ext cx="2724864" cy="387548"/>
          </a:xfrm>
          <a:prstGeom prst="rect">
            <a:avLst/>
          </a:prstGeom>
          <a:noFill/>
          <a:ln/>
        </p:spPr>
        <p:txBody>
          <a:bodyPr wrap="square" lIns="0" tIns="0" rIns="0" bIns="0" rtlCol="0" anchor="t"/>
          <a:lstStyle/>
          <a:p>
            <a:pPr marL="0" indent="0" algn="l">
              <a:lnSpc>
                <a:spcPts val="1000"/>
              </a:lnSpc>
              <a:buNone/>
            </a:pPr>
            <a:r>
              <a:rPr lang="en-US" sz="800">
                <a:solidFill>
                  <a:srgbClr val="2B4150"/>
                </a:solidFill>
                <a:latin typeface="Source Sans 3" pitchFamily="34" charset="0"/>
                <a:ea typeface="Source Sans 3" pitchFamily="34" charset="-122"/>
                <a:cs typeface="Source Sans 3" pitchFamily="34" charset="-120"/>
              </a:rPr>
              <a:t>Combines MySQL for structured data with CSV for attendance records. Optimized queries ensure fast retrieval and storage operations</a:t>
            </a:r>
            <a:endParaRPr lang="en-US" sz="800"/>
          </a:p>
        </p:txBody>
      </p:sp>
      <p:pic>
        <p:nvPicPr>
          <p:cNvPr id="22" name="Image 6" descr="preencoded.png"/>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3157895" y="2989421"/>
            <a:ext cx="263485" cy="263485"/>
          </a:xfrm>
          <a:prstGeom prst="rect">
            <a:avLst/>
          </a:prstGeom>
        </p:spPr>
      </p:pic>
      <p:sp>
        <p:nvSpPr>
          <p:cNvPr id="23" name="Text 14"/>
          <p:cNvSpPr/>
          <p:nvPr/>
        </p:nvSpPr>
        <p:spPr>
          <a:xfrm>
            <a:off x="3157895" y="3322915"/>
            <a:ext cx="1317903" cy="164663"/>
          </a:xfrm>
          <a:prstGeom prst="rect">
            <a:avLst/>
          </a:prstGeom>
          <a:noFill/>
          <a:ln/>
        </p:spPr>
        <p:txBody>
          <a:bodyPr wrap="none" lIns="0" tIns="0" rIns="0" bIns="0" rtlCol="0" anchor="t"/>
          <a:lstStyle/>
          <a:p>
            <a:pPr marL="0" indent="0" algn="l">
              <a:lnSpc>
                <a:spcPts val="1250"/>
              </a:lnSpc>
              <a:buNone/>
            </a:pPr>
            <a:r>
              <a:rPr lang="en-US" sz="1600">
                <a:solidFill>
                  <a:srgbClr val="2B4150"/>
                </a:solidFill>
                <a:latin typeface="Times New Roman" panose="02020603050405020304" pitchFamily="18" charset="0"/>
                <a:ea typeface="MuseoModerno Medium" pitchFamily="34" charset="-122"/>
                <a:cs typeface="Times New Roman" panose="02020603050405020304" pitchFamily="18" charset="0"/>
              </a:rPr>
              <a:t>Fast &amp; Lightweight</a:t>
            </a:r>
            <a:endParaRPr lang="en-US" sz="1600">
              <a:latin typeface="Times New Roman" panose="02020603050405020304" pitchFamily="18" charset="0"/>
              <a:cs typeface="Times New Roman" panose="02020603050405020304" pitchFamily="18" charset="0"/>
            </a:endParaRPr>
          </a:p>
        </p:txBody>
      </p:sp>
      <p:sp>
        <p:nvSpPr>
          <p:cNvPr id="24" name="Text 15"/>
          <p:cNvSpPr/>
          <p:nvPr/>
        </p:nvSpPr>
        <p:spPr>
          <a:xfrm>
            <a:off x="3157895" y="3521154"/>
            <a:ext cx="2724864" cy="387548"/>
          </a:xfrm>
          <a:prstGeom prst="rect">
            <a:avLst/>
          </a:prstGeom>
          <a:noFill/>
          <a:ln/>
        </p:spPr>
        <p:txBody>
          <a:bodyPr wrap="square" lIns="0" tIns="0" rIns="0" bIns="0" rtlCol="0" anchor="t"/>
          <a:lstStyle/>
          <a:p>
            <a:pPr marL="0" indent="0" algn="l">
              <a:lnSpc>
                <a:spcPts val="1000"/>
              </a:lnSpc>
              <a:buNone/>
            </a:pPr>
            <a:r>
              <a:rPr lang="en-US" sz="800">
                <a:solidFill>
                  <a:srgbClr val="2B4150"/>
                </a:solidFill>
                <a:latin typeface="Source Sans 3" pitchFamily="34" charset="0"/>
                <a:ea typeface="Source Sans 3" pitchFamily="34" charset="-122"/>
                <a:cs typeface="Source Sans 3" pitchFamily="34" charset="-120"/>
              </a:rPr>
              <a:t>LBPH algorithm provides excellent speed with minimal resource requirements. System runs efficiently on standard hardware without specialized equipment</a:t>
            </a:r>
            <a:endParaRPr lang="en-US" sz="800"/>
          </a:p>
        </p:txBody>
      </p:sp>
      <p:sp>
        <p:nvSpPr>
          <p:cNvPr id="25" name="Shape 16"/>
          <p:cNvSpPr/>
          <p:nvPr/>
        </p:nvSpPr>
        <p:spPr>
          <a:xfrm>
            <a:off x="3157895" y="3998000"/>
            <a:ext cx="8314611" cy="7858"/>
          </a:xfrm>
          <a:prstGeom prst="rect">
            <a:avLst/>
          </a:prstGeom>
          <a:solidFill>
            <a:srgbClr val="2B4150">
              <a:alpha val="50000"/>
            </a:srgbClr>
          </a:solidFill>
          <a:ln/>
        </p:spPr>
      </p:sp>
      <p:sp>
        <p:nvSpPr>
          <p:cNvPr id="26" name="Text 17"/>
          <p:cNvSpPr/>
          <p:nvPr/>
        </p:nvSpPr>
        <p:spPr>
          <a:xfrm>
            <a:off x="3157895" y="4116110"/>
            <a:ext cx="1667708" cy="197644"/>
          </a:xfrm>
          <a:prstGeom prst="rect">
            <a:avLst/>
          </a:prstGeom>
          <a:noFill/>
          <a:ln/>
        </p:spPr>
        <p:txBody>
          <a:bodyPr wrap="none" lIns="0" tIns="0" rIns="0" bIns="0" rtlCol="0" anchor="t"/>
          <a:lstStyle/>
          <a:p>
            <a:pPr marL="0" indent="0" algn="l">
              <a:lnSpc>
                <a:spcPts val="1550"/>
              </a:lnSpc>
              <a:buNone/>
            </a:pPr>
            <a:r>
              <a:rPr lang="en-US" sz="1600">
                <a:solidFill>
                  <a:srgbClr val="124E73"/>
                </a:solidFill>
                <a:latin typeface="Times New Roman" panose="02020603050405020304" pitchFamily="18" charset="0"/>
                <a:ea typeface="MuseoModerno Medium" pitchFamily="34" charset="-122"/>
                <a:cs typeface="Times New Roman" panose="02020603050405020304" pitchFamily="18" charset="0"/>
              </a:rPr>
              <a:t>Future Enhancements</a:t>
            </a:r>
            <a:endParaRPr lang="en-US" sz="1600">
              <a:latin typeface="Times New Roman" panose="02020603050405020304" pitchFamily="18" charset="0"/>
              <a:cs typeface="Times New Roman" panose="02020603050405020304" pitchFamily="18" charset="0"/>
            </a:endParaRPr>
          </a:p>
        </p:txBody>
      </p:sp>
      <p:sp>
        <p:nvSpPr>
          <p:cNvPr id="27" name="Text 18"/>
          <p:cNvSpPr/>
          <p:nvPr/>
        </p:nvSpPr>
        <p:spPr>
          <a:xfrm>
            <a:off x="3157895" y="4397693"/>
            <a:ext cx="8314611" cy="129183"/>
          </a:xfrm>
          <a:prstGeom prst="rect">
            <a:avLst/>
          </a:prstGeom>
          <a:noFill/>
          <a:ln/>
        </p:spPr>
        <p:txBody>
          <a:bodyPr wrap="none" lIns="0" tIns="0" rIns="0" bIns="0" rtlCol="0" anchor="t"/>
          <a:lstStyle/>
          <a:p>
            <a:pPr marL="0" indent="0" algn="l">
              <a:lnSpc>
                <a:spcPts val="1000"/>
              </a:lnSpc>
              <a:buNone/>
            </a:pPr>
            <a:r>
              <a:rPr lang="en-US" sz="800">
                <a:solidFill>
                  <a:srgbClr val="2B4150"/>
                </a:solidFill>
                <a:latin typeface="Source Sans 3" pitchFamily="34" charset="0"/>
                <a:ea typeface="Source Sans 3" pitchFamily="34" charset="-122"/>
                <a:cs typeface="Source Sans 3" pitchFamily="34" charset="-120"/>
              </a:rPr>
              <a:t>To further improve system capabilities and accuracy, we plan to implement the following advanced features:</a:t>
            </a:r>
            <a:endParaRPr lang="en-US" sz="800"/>
          </a:p>
        </p:txBody>
      </p:sp>
      <p:sp>
        <p:nvSpPr>
          <p:cNvPr id="28" name="Shape 19"/>
          <p:cNvSpPr/>
          <p:nvPr/>
        </p:nvSpPr>
        <p:spPr>
          <a:xfrm>
            <a:off x="3157895" y="4589859"/>
            <a:ext cx="2734151" cy="956191"/>
          </a:xfrm>
          <a:prstGeom prst="roundRect">
            <a:avLst>
              <a:gd name="adj" fmla="val 1654"/>
            </a:avLst>
          </a:prstGeom>
          <a:solidFill>
            <a:srgbClr val="FFFCF5"/>
          </a:solidFill>
          <a:ln w="15240">
            <a:solidFill>
              <a:srgbClr val="D9D4C9"/>
            </a:solidFill>
            <a:prstDash val="solid"/>
          </a:ln>
        </p:spPr>
      </p:sp>
      <p:sp>
        <p:nvSpPr>
          <p:cNvPr id="29" name="Text 20"/>
          <p:cNvSpPr/>
          <p:nvPr/>
        </p:nvSpPr>
        <p:spPr>
          <a:xfrm>
            <a:off x="3278505" y="4710470"/>
            <a:ext cx="1681758" cy="164663"/>
          </a:xfrm>
          <a:prstGeom prst="rect">
            <a:avLst/>
          </a:prstGeom>
          <a:noFill/>
          <a:ln/>
        </p:spPr>
        <p:txBody>
          <a:bodyPr wrap="none" lIns="0" tIns="0" rIns="0" bIns="0" rtlCol="0" anchor="t"/>
          <a:lstStyle/>
          <a:p>
            <a:pPr marL="0" indent="0" algn="l">
              <a:lnSpc>
                <a:spcPts val="1250"/>
              </a:lnSpc>
              <a:buNone/>
            </a:pPr>
            <a:r>
              <a:rPr lang="en-US" sz="1600">
                <a:solidFill>
                  <a:srgbClr val="2B4150"/>
                </a:solidFill>
                <a:latin typeface="Times New Roman" panose="02020603050405020304" pitchFamily="18" charset="0"/>
                <a:ea typeface="MuseoModerno Medium" pitchFamily="34" charset="-122"/>
                <a:cs typeface="Times New Roman" panose="02020603050405020304" pitchFamily="18" charset="0"/>
              </a:rPr>
              <a:t>Deep Learning Integration</a:t>
            </a:r>
            <a:endParaRPr lang="en-US" sz="1600">
              <a:latin typeface="Times New Roman" panose="02020603050405020304" pitchFamily="18" charset="0"/>
              <a:cs typeface="Times New Roman" panose="02020603050405020304" pitchFamily="18" charset="0"/>
            </a:endParaRPr>
          </a:p>
        </p:txBody>
      </p:sp>
      <p:sp>
        <p:nvSpPr>
          <p:cNvPr id="30" name="Text 21"/>
          <p:cNvSpPr/>
          <p:nvPr/>
        </p:nvSpPr>
        <p:spPr>
          <a:xfrm>
            <a:off x="3278505" y="4908709"/>
            <a:ext cx="2492931" cy="516731"/>
          </a:xfrm>
          <a:prstGeom prst="rect">
            <a:avLst/>
          </a:prstGeom>
          <a:noFill/>
          <a:ln/>
        </p:spPr>
        <p:txBody>
          <a:bodyPr wrap="square" lIns="0" tIns="0" rIns="0" bIns="0" rtlCol="0" anchor="t"/>
          <a:lstStyle/>
          <a:p>
            <a:pPr marL="0" indent="0" algn="l">
              <a:lnSpc>
                <a:spcPts val="1000"/>
              </a:lnSpc>
              <a:buNone/>
            </a:pPr>
            <a:r>
              <a:rPr lang="en-US" sz="800">
                <a:solidFill>
                  <a:srgbClr val="2B4150"/>
                </a:solidFill>
                <a:latin typeface="Source Sans 3" pitchFamily="34" charset="0"/>
                <a:ea typeface="Source Sans 3" pitchFamily="34" charset="-122"/>
                <a:cs typeface="Source Sans 3" pitchFamily="34" charset="-120"/>
              </a:rPr>
              <a:t>Replace LBPH with Convolutional Neural Networks (CNN) for higher accuracy recognition rates, better handling of variations in lighting, pose, and facial expressions</a:t>
            </a:r>
            <a:endParaRPr lang="en-US" sz="800"/>
          </a:p>
        </p:txBody>
      </p:sp>
      <p:sp>
        <p:nvSpPr>
          <p:cNvPr id="31" name="Shape 22"/>
          <p:cNvSpPr/>
          <p:nvPr/>
        </p:nvSpPr>
        <p:spPr>
          <a:xfrm>
            <a:off x="5948005" y="4589859"/>
            <a:ext cx="2734270" cy="956191"/>
          </a:xfrm>
          <a:prstGeom prst="roundRect">
            <a:avLst>
              <a:gd name="adj" fmla="val 1654"/>
            </a:avLst>
          </a:prstGeom>
          <a:solidFill>
            <a:srgbClr val="FFFCF5"/>
          </a:solidFill>
          <a:ln w="15240">
            <a:solidFill>
              <a:srgbClr val="D9D4C9"/>
            </a:solidFill>
            <a:prstDash val="solid"/>
          </a:ln>
        </p:spPr>
      </p:sp>
      <p:sp>
        <p:nvSpPr>
          <p:cNvPr id="32" name="Text 23"/>
          <p:cNvSpPr/>
          <p:nvPr/>
        </p:nvSpPr>
        <p:spPr>
          <a:xfrm>
            <a:off x="6068616" y="4710470"/>
            <a:ext cx="1317903" cy="164663"/>
          </a:xfrm>
          <a:prstGeom prst="rect">
            <a:avLst/>
          </a:prstGeom>
          <a:noFill/>
          <a:ln/>
        </p:spPr>
        <p:txBody>
          <a:bodyPr wrap="none" lIns="0" tIns="0" rIns="0" bIns="0" rtlCol="0" anchor="t"/>
          <a:lstStyle/>
          <a:p>
            <a:pPr marL="0" indent="0" algn="l">
              <a:lnSpc>
                <a:spcPts val="1250"/>
              </a:lnSpc>
              <a:buNone/>
            </a:pPr>
            <a:r>
              <a:rPr lang="en-US" sz="1600">
                <a:solidFill>
                  <a:srgbClr val="2B4150"/>
                </a:solidFill>
                <a:latin typeface="Times New Roman" panose="02020603050405020304" pitchFamily="18" charset="0"/>
                <a:ea typeface="MuseoModerno Medium" pitchFamily="34" charset="-122"/>
                <a:cs typeface="Times New Roman" panose="02020603050405020304" pitchFamily="18" charset="0"/>
              </a:rPr>
              <a:t>Liveness Detection</a:t>
            </a:r>
            <a:endParaRPr lang="en-US" sz="1600">
              <a:latin typeface="Times New Roman" panose="02020603050405020304" pitchFamily="18" charset="0"/>
              <a:cs typeface="Times New Roman" panose="02020603050405020304" pitchFamily="18" charset="0"/>
            </a:endParaRPr>
          </a:p>
        </p:txBody>
      </p:sp>
      <p:sp>
        <p:nvSpPr>
          <p:cNvPr id="33" name="Text 24"/>
          <p:cNvSpPr/>
          <p:nvPr/>
        </p:nvSpPr>
        <p:spPr>
          <a:xfrm>
            <a:off x="6068616" y="4908709"/>
            <a:ext cx="2493050" cy="387548"/>
          </a:xfrm>
          <a:prstGeom prst="rect">
            <a:avLst/>
          </a:prstGeom>
          <a:noFill/>
          <a:ln/>
        </p:spPr>
        <p:txBody>
          <a:bodyPr wrap="square" lIns="0" tIns="0" rIns="0" bIns="0" rtlCol="0" anchor="t"/>
          <a:lstStyle/>
          <a:p>
            <a:pPr marL="0" indent="0" algn="l">
              <a:lnSpc>
                <a:spcPts val="1000"/>
              </a:lnSpc>
              <a:buNone/>
            </a:pPr>
            <a:r>
              <a:rPr lang="en-US" sz="800">
                <a:solidFill>
                  <a:srgbClr val="2B4150"/>
                </a:solidFill>
                <a:latin typeface="Source Sans 3" pitchFamily="34" charset="0"/>
                <a:ea typeface="Source Sans 3" pitchFamily="34" charset="-122"/>
                <a:cs typeface="Source Sans 3" pitchFamily="34" charset="-120"/>
              </a:rPr>
              <a:t>Add anti-spoofing measures using eye blink detection, head movement analysis, or texture analysis to prevent attacks using photos or videos</a:t>
            </a:r>
            <a:endParaRPr lang="en-US" sz="800"/>
          </a:p>
        </p:txBody>
      </p:sp>
      <p:sp>
        <p:nvSpPr>
          <p:cNvPr id="34" name="Shape 25"/>
          <p:cNvSpPr/>
          <p:nvPr/>
        </p:nvSpPr>
        <p:spPr>
          <a:xfrm>
            <a:off x="8738235" y="4589859"/>
            <a:ext cx="2734270" cy="956191"/>
          </a:xfrm>
          <a:prstGeom prst="roundRect">
            <a:avLst>
              <a:gd name="adj" fmla="val 1654"/>
            </a:avLst>
          </a:prstGeom>
          <a:solidFill>
            <a:srgbClr val="FFFCF5"/>
          </a:solidFill>
          <a:ln w="15240">
            <a:solidFill>
              <a:srgbClr val="D9D4C9"/>
            </a:solidFill>
            <a:prstDash val="solid"/>
          </a:ln>
        </p:spPr>
      </p:sp>
      <p:sp>
        <p:nvSpPr>
          <p:cNvPr id="35" name="Text 26"/>
          <p:cNvSpPr/>
          <p:nvPr/>
        </p:nvSpPr>
        <p:spPr>
          <a:xfrm>
            <a:off x="8858845" y="4710470"/>
            <a:ext cx="1317903" cy="164663"/>
          </a:xfrm>
          <a:prstGeom prst="rect">
            <a:avLst/>
          </a:prstGeom>
          <a:noFill/>
          <a:ln/>
        </p:spPr>
        <p:txBody>
          <a:bodyPr wrap="none" lIns="0" tIns="0" rIns="0" bIns="0" rtlCol="0" anchor="t"/>
          <a:lstStyle/>
          <a:p>
            <a:pPr marL="0" indent="0" algn="l">
              <a:lnSpc>
                <a:spcPts val="1250"/>
              </a:lnSpc>
              <a:buNone/>
            </a:pPr>
            <a:r>
              <a:rPr lang="en-US" sz="1600">
                <a:solidFill>
                  <a:srgbClr val="2B4150"/>
                </a:solidFill>
                <a:latin typeface="Times New Roman" panose="02020603050405020304" pitchFamily="18" charset="0"/>
                <a:ea typeface="MuseoModerno Medium" pitchFamily="34" charset="-122"/>
                <a:cs typeface="Times New Roman" panose="02020603050405020304" pitchFamily="18" charset="0"/>
              </a:rPr>
              <a:t>Cloud Database</a:t>
            </a:r>
            <a:endParaRPr lang="en-US" sz="1600">
              <a:latin typeface="Times New Roman" panose="02020603050405020304" pitchFamily="18" charset="0"/>
              <a:cs typeface="Times New Roman" panose="02020603050405020304" pitchFamily="18" charset="0"/>
            </a:endParaRPr>
          </a:p>
        </p:txBody>
      </p:sp>
      <p:sp>
        <p:nvSpPr>
          <p:cNvPr id="36" name="Text 27"/>
          <p:cNvSpPr/>
          <p:nvPr/>
        </p:nvSpPr>
        <p:spPr>
          <a:xfrm>
            <a:off x="8858845" y="4908709"/>
            <a:ext cx="2493050" cy="387548"/>
          </a:xfrm>
          <a:prstGeom prst="rect">
            <a:avLst/>
          </a:prstGeom>
          <a:noFill/>
          <a:ln/>
        </p:spPr>
        <p:txBody>
          <a:bodyPr wrap="square" lIns="0" tIns="0" rIns="0" bIns="0" rtlCol="0" anchor="t"/>
          <a:lstStyle/>
          <a:p>
            <a:pPr marL="0" indent="0" algn="l">
              <a:lnSpc>
                <a:spcPts val="1000"/>
              </a:lnSpc>
              <a:buNone/>
            </a:pPr>
            <a:r>
              <a:rPr lang="en-US" sz="800">
                <a:solidFill>
                  <a:srgbClr val="2B4150"/>
                </a:solidFill>
                <a:latin typeface="Source Sans 3" pitchFamily="34" charset="0"/>
                <a:ea typeface="Source Sans 3" pitchFamily="34" charset="-122"/>
                <a:cs typeface="Source Sans 3" pitchFamily="34" charset="-120"/>
              </a:rPr>
              <a:t>Migrate from local MySQL to cloud-based solutions like AWS RDS or Firebase for scalability, remote access, and data redundancy</a:t>
            </a:r>
            <a:endParaRPr lang="en-US" sz="800"/>
          </a:p>
        </p:txBody>
      </p:sp>
      <p:sp>
        <p:nvSpPr>
          <p:cNvPr id="37" name="Shape 28"/>
          <p:cNvSpPr/>
          <p:nvPr/>
        </p:nvSpPr>
        <p:spPr>
          <a:xfrm>
            <a:off x="3157895" y="5602010"/>
            <a:ext cx="2734151" cy="827008"/>
          </a:xfrm>
          <a:prstGeom prst="roundRect">
            <a:avLst>
              <a:gd name="adj" fmla="val 1912"/>
            </a:avLst>
          </a:prstGeom>
          <a:solidFill>
            <a:srgbClr val="FFFCF5"/>
          </a:solidFill>
          <a:ln w="15240">
            <a:solidFill>
              <a:srgbClr val="D9D4C9"/>
            </a:solidFill>
            <a:prstDash val="solid"/>
          </a:ln>
        </p:spPr>
      </p:sp>
      <p:sp>
        <p:nvSpPr>
          <p:cNvPr id="38" name="Text 29"/>
          <p:cNvSpPr/>
          <p:nvPr/>
        </p:nvSpPr>
        <p:spPr>
          <a:xfrm>
            <a:off x="3278505" y="5722620"/>
            <a:ext cx="1317903" cy="164663"/>
          </a:xfrm>
          <a:prstGeom prst="rect">
            <a:avLst/>
          </a:prstGeom>
          <a:noFill/>
          <a:ln/>
        </p:spPr>
        <p:txBody>
          <a:bodyPr wrap="none" lIns="0" tIns="0" rIns="0" bIns="0" rtlCol="0" anchor="t"/>
          <a:lstStyle/>
          <a:p>
            <a:pPr marL="0" indent="0" algn="l">
              <a:lnSpc>
                <a:spcPts val="1250"/>
              </a:lnSpc>
              <a:buNone/>
            </a:pPr>
            <a:r>
              <a:rPr lang="en-US" sz="1600">
                <a:solidFill>
                  <a:srgbClr val="2B4150"/>
                </a:solidFill>
                <a:latin typeface="Times New Roman" panose="02020603050405020304" pitchFamily="18" charset="0"/>
                <a:ea typeface="MuseoModerno Medium" pitchFamily="34" charset="-122"/>
                <a:cs typeface="Times New Roman" panose="02020603050405020304" pitchFamily="18" charset="0"/>
              </a:rPr>
              <a:t>Mobile Application</a:t>
            </a:r>
            <a:endParaRPr lang="en-US" sz="1600">
              <a:latin typeface="Times New Roman" panose="02020603050405020304" pitchFamily="18" charset="0"/>
              <a:cs typeface="Times New Roman" panose="02020603050405020304" pitchFamily="18" charset="0"/>
            </a:endParaRPr>
          </a:p>
        </p:txBody>
      </p:sp>
      <p:sp>
        <p:nvSpPr>
          <p:cNvPr id="39" name="Text 30"/>
          <p:cNvSpPr/>
          <p:nvPr/>
        </p:nvSpPr>
        <p:spPr>
          <a:xfrm>
            <a:off x="3278505" y="5920859"/>
            <a:ext cx="2492931" cy="387548"/>
          </a:xfrm>
          <a:prstGeom prst="rect">
            <a:avLst/>
          </a:prstGeom>
          <a:noFill/>
          <a:ln/>
        </p:spPr>
        <p:txBody>
          <a:bodyPr wrap="square" lIns="0" tIns="0" rIns="0" bIns="0" rtlCol="0" anchor="t"/>
          <a:lstStyle/>
          <a:p>
            <a:pPr marL="0" indent="0" algn="l">
              <a:lnSpc>
                <a:spcPts val="1000"/>
              </a:lnSpc>
              <a:buNone/>
            </a:pPr>
            <a:r>
              <a:rPr lang="en-US" sz="800">
                <a:solidFill>
                  <a:srgbClr val="2B4150"/>
                </a:solidFill>
                <a:latin typeface="Source Sans 3" pitchFamily="34" charset="0"/>
                <a:ea typeface="Source Sans 3" pitchFamily="34" charset="-122"/>
                <a:cs typeface="Source Sans 3" pitchFamily="34" charset="-120"/>
              </a:rPr>
              <a:t>Develop companion mobile app for iOS and Android allowing attendance marking from mobile devices and remote access to records</a:t>
            </a:r>
            <a:endParaRPr lang="en-US" sz="800"/>
          </a:p>
        </p:txBody>
      </p:sp>
      <p:sp>
        <p:nvSpPr>
          <p:cNvPr id="40" name="Shape 31"/>
          <p:cNvSpPr/>
          <p:nvPr/>
        </p:nvSpPr>
        <p:spPr>
          <a:xfrm>
            <a:off x="5948005" y="5602010"/>
            <a:ext cx="2734270" cy="827008"/>
          </a:xfrm>
          <a:prstGeom prst="roundRect">
            <a:avLst>
              <a:gd name="adj" fmla="val 1912"/>
            </a:avLst>
          </a:prstGeom>
          <a:solidFill>
            <a:srgbClr val="FFFCF5"/>
          </a:solidFill>
          <a:ln w="15240">
            <a:solidFill>
              <a:srgbClr val="D9D4C9"/>
            </a:solidFill>
            <a:prstDash val="solid"/>
          </a:ln>
        </p:spPr>
      </p:sp>
      <p:sp>
        <p:nvSpPr>
          <p:cNvPr id="41" name="Text 32"/>
          <p:cNvSpPr/>
          <p:nvPr/>
        </p:nvSpPr>
        <p:spPr>
          <a:xfrm>
            <a:off x="6068616" y="5722620"/>
            <a:ext cx="1459349" cy="164663"/>
          </a:xfrm>
          <a:prstGeom prst="rect">
            <a:avLst/>
          </a:prstGeom>
          <a:noFill/>
          <a:ln/>
        </p:spPr>
        <p:txBody>
          <a:bodyPr wrap="none" lIns="0" tIns="0" rIns="0" bIns="0" rtlCol="0" anchor="t"/>
          <a:lstStyle/>
          <a:p>
            <a:pPr marL="0" indent="0" algn="l">
              <a:lnSpc>
                <a:spcPts val="1250"/>
              </a:lnSpc>
              <a:buNone/>
            </a:pPr>
            <a:r>
              <a:rPr lang="en-US" sz="1600">
                <a:solidFill>
                  <a:srgbClr val="2B4150"/>
                </a:solidFill>
                <a:latin typeface="Times New Roman" panose="02020603050405020304" pitchFamily="18" charset="0"/>
                <a:ea typeface="MuseoModerno Medium" pitchFamily="34" charset="-122"/>
                <a:cs typeface="Times New Roman" panose="02020603050405020304" pitchFamily="18" charset="0"/>
              </a:rPr>
              <a:t>Multi-Face Recognition</a:t>
            </a:r>
            <a:endParaRPr lang="en-US" sz="1600">
              <a:latin typeface="Times New Roman" panose="02020603050405020304" pitchFamily="18" charset="0"/>
              <a:cs typeface="Times New Roman" panose="02020603050405020304" pitchFamily="18" charset="0"/>
            </a:endParaRPr>
          </a:p>
        </p:txBody>
      </p:sp>
      <p:sp>
        <p:nvSpPr>
          <p:cNvPr id="42" name="Text 33"/>
          <p:cNvSpPr/>
          <p:nvPr/>
        </p:nvSpPr>
        <p:spPr>
          <a:xfrm>
            <a:off x="6068616" y="5920859"/>
            <a:ext cx="2493050" cy="387548"/>
          </a:xfrm>
          <a:prstGeom prst="rect">
            <a:avLst/>
          </a:prstGeom>
          <a:noFill/>
          <a:ln/>
        </p:spPr>
        <p:txBody>
          <a:bodyPr wrap="square" lIns="0" tIns="0" rIns="0" bIns="0" rtlCol="0" anchor="t"/>
          <a:lstStyle/>
          <a:p>
            <a:pPr marL="0" indent="0" algn="l">
              <a:lnSpc>
                <a:spcPts val="1000"/>
              </a:lnSpc>
              <a:buNone/>
            </a:pPr>
            <a:r>
              <a:rPr lang="en-US" sz="800">
                <a:solidFill>
                  <a:srgbClr val="2B4150"/>
                </a:solidFill>
                <a:latin typeface="Source Sans 3" pitchFamily="34" charset="0"/>
                <a:ea typeface="Source Sans 3" pitchFamily="34" charset="-122"/>
                <a:cs typeface="Source Sans 3" pitchFamily="34" charset="-120"/>
              </a:rPr>
              <a:t>Enable simultaneous recognition of multiple faces in frame, allowing attendance marking for entire groups at once rather than individually</a:t>
            </a:r>
            <a:endParaRPr lang="en-US" sz="800"/>
          </a:p>
        </p:txBody>
      </p:sp>
      <p:sp>
        <p:nvSpPr>
          <p:cNvPr id="43" name="Shape 34"/>
          <p:cNvSpPr/>
          <p:nvPr/>
        </p:nvSpPr>
        <p:spPr>
          <a:xfrm>
            <a:off x="8738235" y="5602010"/>
            <a:ext cx="2734270" cy="827008"/>
          </a:xfrm>
          <a:prstGeom prst="roundRect">
            <a:avLst>
              <a:gd name="adj" fmla="val 1912"/>
            </a:avLst>
          </a:prstGeom>
          <a:solidFill>
            <a:srgbClr val="FFFCF5"/>
          </a:solidFill>
          <a:ln w="15240">
            <a:solidFill>
              <a:srgbClr val="D9D4C9"/>
            </a:solidFill>
            <a:prstDash val="solid"/>
          </a:ln>
        </p:spPr>
      </p:sp>
      <p:sp>
        <p:nvSpPr>
          <p:cNvPr id="44" name="Text 35"/>
          <p:cNvSpPr/>
          <p:nvPr/>
        </p:nvSpPr>
        <p:spPr>
          <a:xfrm>
            <a:off x="8858845" y="5722620"/>
            <a:ext cx="1317903" cy="164663"/>
          </a:xfrm>
          <a:prstGeom prst="rect">
            <a:avLst/>
          </a:prstGeom>
          <a:noFill/>
          <a:ln/>
        </p:spPr>
        <p:txBody>
          <a:bodyPr wrap="none" lIns="0" tIns="0" rIns="0" bIns="0" rtlCol="0" anchor="t"/>
          <a:lstStyle/>
          <a:p>
            <a:pPr marL="0" indent="0" algn="l">
              <a:lnSpc>
                <a:spcPts val="1250"/>
              </a:lnSpc>
              <a:buNone/>
            </a:pPr>
            <a:r>
              <a:rPr lang="en-US" sz="1600">
                <a:solidFill>
                  <a:srgbClr val="2B4150"/>
                </a:solidFill>
                <a:latin typeface="Times New Roman" panose="02020603050405020304" pitchFamily="18" charset="0"/>
                <a:ea typeface="MuseoModerno Medium" pitchFamily="34" charset="-122"/>
                <a:cs typeface="Times New Roman" panose="02020603050405020304" pitchFamily="18" charset="0"/>
              </a:rPr>
              <a:t>Notification System</a:t>
            </a:r>
            <a:endParaRPr lang="en-US" sz="1600">
              <a:latin typeface="Times New Roman" panose="02020603050405020304" pitchFamily="18" charset="0"/>
              <a:cs typeface="Times New Roman" panose="02020603050405020304" pitchFamily="18" charset="0"/>
            </a:endParaRPr>
          </a:p>
        </p:txBody>
      </p:sp>
      <p:sp>
        <p:nvSpPr>
          <p:cNvPr id="45" name="Text 36"/>
          <p:cNvSpPr/>
          <p:nvPr/>
        </p:nvSpPr>
        <p:spPr>
          <a:xfrm>
            <a:off x="8858845" y="5920859"/>
            <a:ext cx="2493050" cy="387548"/>
          </a:xfrm>
          <a:prstGeom prst="rect">
            <a:avLst/>
          </a:prstGeom>
          <a:noFill/>
          <a:ln/>
        </p:spPr>
        <p:txBody>
          <a:bodyPr wrap="square" lIns="0" tIns="0" rIns="0" bIns="0" rtlCol="0" anchor="t"/>
          <a:lstStyle/>
          <a:p>
            <a:pPr marL="0" indent="0" algn="l">
              <a:lnSpc>
                <a:spcPts val="1000"/>
              </a:lnSpc>
              <a:buNone/>
            </a:pPr>
            <a:r>
              <a:rPr lang="en-US" sz="800">
                <a:solidFill>
                  <a:srgbClr val="2B4150"/>
                </a:solidFill>
                <a:latin typeface="Source Sans 3" pitchFamily="34" charset="0"/>
                <a:ea typeface="Source Sans 3" pitchFamily="34" charset="-122"/>
                <a:cs typeface="Source Sans 3" pitchFamily="34" charset="-120"/>
              </a:rPr>
              <a:t>Implement email and SMS notifications for attendance confirmation, absence alerts, and system status updates to parents and administrators</a:t>
            </a:r>
            <a:endParaRPr lang="en-US" sz="800"/>
          </a:p>
        </p:txBody>
      </p:sp>
      <p:sp>
        <p:nvSpPr>
          <p:cNvPr id="46" name="Shape 37"/>
          <p:cNvSpPr/>
          <p:nvPr/>
        </p:nvSpPr>
        <p:spPr>
          <a:xfrm>
            <a:off x="3157895" y="6484977"/>
            <a:ext cx="8314611" cy="568643"/>
          </a:xfrm>
          <a:prstGeom prst="roundRect">
            <a:avLst>
              <a:gd name="adj" fmla="val 2781"/>
            </a:avLst>
          </a:prstGeom>
          <a:solidFill>
            <a:srgbClr val="FFFCF5"/>
          </a:solidFill>
          <a:ln w="15240">
            <a:solidFill>
              <a:srgbClr val="D9D4C9"/>
            </a:solidFill>
            <a:prstDash val="solid"/>
          </a:ln>
        </p:spPr>
      </p:sp>
      <p:sp>
        <p:nvSpPr>
          <p:cNvPr id="47" name="Text 38"/>
          <p:cNvSpPr/>
          <p:nvPr/>
        </p:nvSpPr>
        <p:spPr>
          <a:xfrm>
            <a:off x="3278505" y="6605588"/>
            <a:ext cx="1332309" cy="164663"/>
          </a:xfrm>
          <a:prstGeom prst="rect">
            <a:avLst/>
          </a:prstGeom>
          <a:noFill/>
          <a:ln/>
        </p:spPr>
        <p:txBody>
          <a:bodyPr wrap="none" lIns="0" tIns="0" rIns="0" bIns="0" rtlCol="0" anchor="t"/>
          <a:lstStyle/>
          <a:p>
            <a:pPr marL="0" indent="0" algn="l">
              <a:lnSpc>
                <a:spcPts val="1250"/>
              </a:lnSpc>
              <a:buNone/>
            </a:pPr>
            <a:r>
              <a:rPr lang="en-US" sz="1600">
                <a:solidFill>
                  <a:srgbClr val="2B4150"/>
                </a:solidFill>
                <a:latin typeface="Times New Roman" panose="02020603050405020304" pitchFamily="18" charset="0"/>
                <a:ea typeface="MuseoModerno Medium" pitchFamily="34" charset="-122"/>
                <a:cs typeface="Times New Roman" panose="02020603050405020304" pitchFamily="18" charset="0"/>
              </a:rPr>
              <a:t>Analytics Dashboard</a:t>
            </a:r>
            <a:endParaRPr lang="en-US" sz="1600">
              <a:latin typeface="Times New Roman" panose="02020603050405020304" pitchFamily="18" charset="0"/>
              <a:cs typeface="Times New Roman" panose="02020603050405020304" pitchFamily="18" charset="0"/>
            </a:endParaRPr>
          </a:p>
        </p:txBody>
      </p:sp>
      <p:sp>
        <p:nvSpPr>
          <p:cNvPr id="48" name="Text 39"/>
          <p:cNvSpPr/>
          <p:nvPr/>
        </p:nvSpPr>
        <p:spPr>
          <a:xfrm>
            <a:off x="3278505" y="6803827"/>
            <a:ext cx="8073390" cy="129183"/>
          </a:xfrm>
          <a:prstGeom prst="rect">
            <a:avLst/>
          </a:prstGeom>
          <a:noFill/>
          <a:ln/>
        </p:spPr>
        <p:txBody>
          <a:bodyPr wrap="none" lIns="0" tIns="0" rIns="0" bIns="0" rtlCol="0" anchor="t"/>
          <a:lstStyle/>
          <a:p>
            <a:pPr marL="0" indent="0" algn="l">
              <a:lnSpc>
                <a:spcPts val="1000"/>
              </a:lnSpc>
              <a:buNone/>
            </a:pPr>
            <a:r>
              <a:rPr lang="en-US" sz="800">
                <a:solidFill>
                  <a:srgbClr val="2B4150"/>
                </a:solidFill>
                <a:latin typeface="Source Sans 3" pitchFamily="34" charset="0"/>
                <a:ea typeface="Source Sans 3" pitchFamily="34" charset="-122"/>
                <a:cs typeface="Source Sans 3" pitchFamily="34" charset="-120"/>
              </a:rPr>
              <a:t>Create comprehensive reporting dashboard with charts, graphs, and statistical analysis of attendance patterns, trends, and performance metrics</a:t>
            </a:r>
            <a:endParaRPr lang="en-US" sz="800"/>
          </a:p>
        </p:txBody>
      </p:sp>
      <p:sp>
        <p:nvSpPr>
          <p:cNvPr id="49" name="Text 40"/>
          <p:cNvSpPr/>
          <p:nvPr/>
        </p:nvSpPr>
        <p:spPr>
          <a:xfrm>
            <a:off x="3157895" y="7137559"/>
            <a:ext cx="1581507" cy="197644"/>
          </a:xfrm>
          <a:prstGeom prst="rect">
            <a:avLst/>
          </a:prstGeom>
          <a:noFill/>
          <a:ln/>
        </p:spPr>
        <p:txBody>
          <a:bodyPr wrap="none" lIns="0" tIns="0" rIns="0" bIns="0" rtlCol="0" anchor="t"/>
          <a:lstStyle/>
          <a:p>
            <a:pPr marL="0" indent="0" algn="l">
              <a:lnSpc>
                <a:spcPts val="1550"/>
              </a:lnSpc>
              <a:buNone/>
            </a:pPr>
            <a:r>
              <a:rPr lang="en-US" sz="1600">
                <a:solidFill>
                  <a:srgbClr val="124E73"/>
                </a:solidFill>
                <a:latin typeface="Times New Roman" panose="02020603050405020304" pitchFamily="18" charset="0"/>
                <a:ea typeface="MuseoModerno Medium" pitchFamily="34" charset="-122"/>
                <a:cs typeface="Times New Roman" panose="02020603050405020304" pitchFamily="18" charset="0"/>
              </a:rPr>
              <a:t>Conclusion</a:t>
            </a:r>
            <a:endParaRPr lang="en-US" sz="1600">
              <a:latin typeface="Times New Roman" panose="02020603050405020304" pitchFamily="18" charset="0"/>
              <a:cs typeface="Times New Roman" panose="02020603050405020304" pitchFamily="18" charset="0"/>
            </a:endParaRPr>
          </a:p>
        </p:txBody>
      </p:sp>
      <p:sp>
        <p:nvSpPr>
          <p:cNvPr id="50" name="Text 41"/>
          <p:cNvSpPr/>
          <p:nvPr/>
        </p:nvSpPr>
        <p:spPr>
          <a:xfrm>
            <a:off x="3157895" y="7419142"/>
            <a:ext cx="8314611" cy="516731"/>
          </a:xfrm>
          <a:prstGeom prst="rect">
            <a:avLst/>
          </a:prstGeom>
          <a:noFill/>
          <a:ln/>
        </p:spPr>
        <p:txBody>
          <a:bodyPr wrap="square" lIns="0" tIns="0" rIns="0" bIns="0" rtlCol="0" anchor="t"/>
          <a:lstStyle/>
          <a:p>
            <a:pPr marL="0" indent="0" algn="l">
              <a:lnSpc>
                <a:spcPts val="1000"/>
              </a:lnSpc>
              <a:buNone/>
            </a:pPr>
            <a:r>
              <a:rPr lang="en-US" sz="800">
                <a:solidFill>
                  <a:srgbClr val="2B4150"/>
                </a:solidFill>
                <a:latin typeface="Source Sans 3" pitchFamily="34" charset="0"/>
                <a:ea typeface="Source Sans 3" pitchFamily="34" charset="-122"/>
                <a:cs typeface="Source Sans 3" pitchFamily="34" charset="-120"/>
              </a:rPr>
              <a:t>The Face Recognition Attendance System represents an efficient and automated solution for managing attendance using modern technologies. By reducing manual effort, increasing accuracy, and preventing fraudulent practices like proxy attendance, this system successfully integrates Computer Vision, Machine Learning, and GUI design to provide a reliable and user-friendly application. With further enhancements planned, this system can be widely adopted in educational institutions, corporate offices, and various organizations seeking to modernize their attendance management processes.</a:t>
            </a:r>
            <a:endParaRPr lang="en-US" sz="800"/>
          </a:p>
        </p:txBody>
      </p:sp>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96B24"/>
      </a:accent1>
      <a:accent2>
        <a:srgbClr val="4EA72E"/>
      </a:accent2>
      <a:accent3>
        <a:srgbClr val="156082"/>
      </a:accent3>
      <a:accent4>
        <a:srgbClr val="0F9ED5"/>
      </a:accent4>
      <a:accent5>
        <a:srgbClr val="A02B93"/>
      </a:accent5>
      <a:accent6>
        <a:srgbClr val="E97132"/>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97E0A228-C590-4D20-B05F-A6BF04A0544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Custom</PresentationFormat>
  <Slides>6</Slides>
  <Notes>5</Notes>
  <HiddenSlides>0</HiddenSlides>
  <ScaleCrop>false</ScaleCrop>
  <HeadingPairs>
    <vt:vector size="4" baseType="variant">
      <vt:variant>
        <vt:lpstr>Theme</vt:lpstr>
      </vt:variant>
      <vt:variant>
        <vt:i4>1</vt:i4>
      </vt:variant>
      <vt:variant>
        <vt:lpstr>Slide Titles</vt:lpstr>
      </vt:variant>
      <vt:variant>
        <vt:i4>6</vt:i4>
      </vt:variant>
    </vt:vector>
  </HeadingPairs>
  <TitlesOfParts>
    <vt:vector size="7" baseType="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lastModifiedBy>sharvari shukla</cp:lastModifiedBy>
  <cp:revision>2</cp:revision>
  <dcterms:created xsi:type="dcterms:W3CDTF">2026-04-19T16:11:00Z</dcterms:created>
  <dcterms:modified xsi:type="dcterms:W3CDTF">2026-04-19T16:39:46Z</dcterms:modified>
</cp:coreProperties>
</file>